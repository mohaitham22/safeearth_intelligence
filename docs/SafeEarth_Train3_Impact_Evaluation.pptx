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the machine-learning story of notebook 07: what was built, the final scores, why those scores are the ceiling for this feature set, and exactly what we did to reach them. Unlike the main project deck (test was a subset of train), this notebook is a clean single-file stratified split — the numbers here are honest out-of-sample estimates.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notebook as the honesty pass. Everything downstream uses this clean split, so the numbers are out-of-sample, not resubstitution.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Headline classifier number is macro-F1 0.6885 on a clean split. Weighted-F1 0.775 and accuracy 0.773 are higher because the majority hydro-met classes dominate support. ROC-AUC 0.95 says the probabilities rank well even where argmax F1 is weak.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biggest source of classification error is the Flood/Storm/Landslide confusion. They are genuinely similar in the available feature space. No amount of tuning fixes this — it needs exogenous weather/terrain features.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independent wins: add the disaster-type axis, and drop the fake zeros. This is what makes the impact numbers sane (Flood and Earthquake at the same coords now differ).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 e^(log-MAE) = the typical multiplicative error. R²_log positive (0.23–0.43) means we do capture order-of-magnitude tendency per type. The raw-unit R² story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 'why not better' for regression. It's a signal/feature limit, not a model limit — XGB, LGBM and RF all land in the same place. The only real lever is exogenous exposure features.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enriched dataset the importance is more distributed than the legacy 16-feature model. That distribution is itself a hint: no one feature cracks the hydro-met overlap.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answers the question directly. Classification: bias/signal-limited on the majority cluster, variance-limited on minorities. Regression: signal-limited everywhere. Both verdicts point at features/data, not the model.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two honest headlines: the scores, and the reason they're the ceiling (features, not model).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'why R²≈0' and 'why hydro-met confuses' answers ready — both are feature/signal limits, which is the honest and defensible story.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D2E"/>
        </a:solidFill>
        <a:effectLst/>
      </p:bgPr>
    </p:bg>
    <p:spTree>
      <p:nvGrpSpPr>
        <p:cNvPr id="1" name=""/>
        <p:cNvGrpSpPr/>
        <p:nvPr/>
      </p:nvGrpSpPr>
      <p:grpSpPr/>
      <p:sp>
        <p:nvSpPr>
          <p:cNvPr id="2" name="Rectangle 1"/>
          <p:cNvSpPr/>
          <p:nvPr/>
        </p:nvSpPr>
        <p:spPr>
          <a:xfrm>
            <a:off x="0" y="2788920"/>
            <a:ext cx="12191695" cy="73152"/>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332720" cy="1097280"/>
          </a:xfrm>
          <a:prstGeom prst="rect">
            <a:avLst/>
          </a:prstGeom>
          <a:noFill/>
        </p:spPr>
        <p:txBody>
          <a:bodyPr wrap="square">
            <a:spAutoFit/>
          </a:bodyPr>
          <a:lstStyle/>
          <a:p>
            <a:pPr algn="ctr"/>
            <a:r>
              <a:rPr sz="4400" b="1">
                <a:solidFill>
                  <a:srgbClr val="FFFFFF"/>
                </a:solidFill>
                <a:latin typeface="Calibri"/>
              </a:rPr>
              <a:t>🌍  SafeEarth Intelligence</a:t>
            </a:r>
          </a:p>
        </p:txBody>
      </p:sp>
      <p:sp>
        <p:nvSpPr>
          <p:cNvPr id="4" name="TextBox 3"/>
          <p:cNvSpPr txBox="1"/>
          <p:nvPr/>
        </p:nvSpPr>
        <p:spPr>
          <a:xfrm>
            <a:off x="914400" y="2880360"/>
            <a:ext cx="10332720" cy="1371600"/>
          </a:xfrm>
          <a:prstGeom prst="rect">
            <a:avLst/>
          </a:prstGeom>
          <a:noFill/>
        </p:spPr>
        <p:txBody>
          <a:bodyPr wrap="square">
            <a:spAutoFit/>
          </a:bodyPr>
          <a:lstStyle/>
          <a:p>
            <a:pPr algn="ctr"/>
            <a:r>
              <a:rPr sz="2700" b="1">
                <a:solidFill>
                  <a:srgbClr val="16A34A"/>
                </a:solidFill>
                <a:latin typeface="Calibri"/>
              </a:rPr>
              <a:t>Impact Evaluation — Notebook 07 (train 3)</a:t>
            </a:r>
          </a:p>
          <a:p>
            <a:pPr algn="ctr"/>
            <a:r>
              <a:rPr sz="1800" b="0">
                <a:solidFill>
                  <a:srgbClr val="CBD5E1"/>
                </a:solidFill>
                <a:latin typeface="Calibri"/>
              </a:rPr>
              <a:t>Disaster-type classifier + 5 impact regressors on the enriched 8-type dataset</a:t>
            </a:r>
          </a:p>
        </p:txBody>
      </p:sp>
      <p:sp>
        <p:nvSpPr>
          <p:cNvPr id="5" name="TextBox 4"/>
          <p:cNvSpPr txBox="1"/>
          <p:nvPr/>
        </p:nvSpPr>
        <p:spPr>
          <a:xfrm>
            <a:off x="914400" y="4937760"/>
            <a:ext cx="10332720" cy="1005840"/>
          </a:xfrm>
          <a:prstGeom prst="rect">
            <a:avLst/>
          </a:prstGeom>
          <a:noFill/>
        </p:spPr>
        <p:txBody>
          <a:bodyPr wrap="square">
            <a:spAutoFit/>
          </a:bodyPr>
          <a:lstStyle/>
          <a:p>
            <a:pPr algn="ctr"/>
            <a:r>
              <a:rPr sz="1400">
                <a:solidFill>
                  <a:srgbClr val="94A3B8"/>
                </a:solidFill>
                <a:latin typeface="Calibri"/>
              </a:rPr>
              <a:t>data/train 3/disasters_8types_enriched.csv  ·  14,476 events  ·  stratified 80/20 split, random_state=42</a:t>
            </a:r>
          </a:p>
          <a:p>
            <a:pPr algn="ctr"/>
            <a:r>
              <a:rPr sz="1400">
                <a:solidFill>
                  <a:srgbClr val="94A3B8"/>
                </a:solidFill>
                <a:latin typeface="Calibri"/>
              </a:rPr>
              <a:t>Optuna-tuned XGB+LGB+CAT ensemble  ·  per-type / drop-null impact regressors  ·  run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841248"/>
          </a:xfrm>
          <a:prstGeom prst="rect">
            <a:avLst/>
          </a:prstGeom>
          <a:noFill/>
        </p:spPr>
        <p:txBody>
          <a:bodyPr wrap="square">
            <a:spAutoFit/>
          </a:bodyPr>
          <a:lstStyle/>
          <a:p>
            <a:r>
              <a:rPr sz="2600" b="1">
                <a:solidFill>
                  <a:srgbClr val="FFFFFF"/>
                </a:solidFill>
                <a:latin typeface="Calibri"/>
              </a:rPr>
              <a:t>What Notebook 07 Does</a:t>
            </a:r>
          </a:p>
        </p:txBody>
      </p:sp>
      <p:sp>
        <p:nvSpPr>
          <p:cNvPr id="4" name="TextBox 3"/>
          <p:cNvSpPr txBox="1"/>
          <p:nvPr/>
        </p:nvSpPr>
        <p:spPr>
          <a:xfrm>
            <a:off x="548640" y="1417320"/>
            <a:ext cx="11064240" cy="5120640"/>
          </a:xfrm>
          <a:prstGeom prst="rect">
            <a:avLst/>
          </a:prstGeom>
          <a:noFill/>
        </p:spPr>
        <p:txBody>
          <a:bodyPr wrap="square">
            <a:spAutoFit/>
          </a:bodyPr>
          <a:lstStyle/>
          <a:p>
            <a:pPr>
              <a:spcAft>
                <a:spcPts val="1400"/>
              </a:spcAft>
            </a:pPr>
            <a:r>
              <a:rPr sz="1800" b="1">
                <a:solidFill>
                  <a:srgbClr val="0B3D2E"/>
                </a:solidFill>
                <a:latin typeface="Calibri"/>
              </a:rPr>
              <a:t>•  Goal: a clean, honest end-to-end evaluation on the enriched 8-type dataset</a:t>
            </a:r>
          </a:p>
          <a:p>
            <a:pPr>
              <a:spcAft>
                <a:spcPts val="1400"/>
              </a:spcAft>
            </a:pPr>
            <a:r>
              <a:rPr sz="1800" b="0">
                <a:solidFill>
                  <a:srgbClr val="334155"/>
                </a:solidFill>
                <a:latin typeface="Calibri"/>
              </a:rPr>
              <a:t>•  1 · Load 14,476 events, drop ultra-rare classes (&lt;30 rows) — none dropped here</a:t>
            </a:r>
          </a:p>
          <a:p>
            <a:pPr>
              <a:spcAft>
                <a:spcPts val="1400"/>
              </a:spcAft>
            </a:pPr>
            <a:r>
              <a:rPr sz="1800" b="0">
                <a:solidFill>
                  <a:srgbClr val="334155"/>
                </a:solidFill>
                <a:latin typeface="Calibri"/>
              </a:rPr>
              <a:t>•  2 · Leakage-safe preprocessing: impute cpi, exclude post-event response columns, encode on the train fold only</a:t>
            </a:r>
          </a:p>
          <a:p>
            <a:pPr>
              <a:spcAft>
                <a:spcPts val="1400"/>
              </a:spcAft>
            </a:pPr>
            <a:r>
              <a:rPr sz="1800" b="1">
                <a:solidFill>
                  <a:srgbClr val="16A34A"/>
                </a:solidFill>
                <a:latin typeface="Calibri"/>
              </a:rPr>
              <a:t>•  3 · Stratified 80/20 train/test split (single file → no train/test leak by construction)</a:t>
            </a:r>
          </a:p>
          <a:p>
            <a:pPr>
              <a:spcAft>
                <a:spcPts val="1400"/>
              </a:spcAft>
            </a:pPr>
            <a:r>
              <a:rPr sz="1800" b="0">
                <a:solidFill>
                  <a:srgbClr val="334155"/>
                </a:solidFill>
                <a:latin typeface="Calibri"/>
              </a:rPr>
              <a:t>•  4 · Classifier: XGBoost + LightGBM + CatBoost soft-voting ensemble, Optuna-tuned + full scoreboard + SHAP</a:t>
            </a:r>
          </a:p>
          <a:p>
            <a:pPr>
              <a:spcAft>
                <a:spcPts val="1400"/>
              </a:spcAft>
            </a:pPr>
            <a:r>
              <a:rPr sz="1800" b="0">
                <a:solidFill>
                  <a:srgbClr val="334155"/>
                </a:solidFill>
                <a:latin typeface="Calibri"/>
              </a:rPr>
              <a:t>•  5 · Impact regressors (the focus): deaths · injuries · affected · damage · uninsured</a:t>
            </a:r>
          </a:p>
          <a:p>
            <a:pPr lvl="1">
              <a:spcAft>
                <a:spcPts val="1400"/>
              </a:spcAft>
            </a:pPr>
            <a:r>
              <a:rPr sz="1600" b="0">
                <a:solidFill>
                  <a:srgbClr val="64748B"/>
                </a:solidFill>
                <a:latin typeface="Calibri"/>
              </a:rPr>
              <a:t>–      per-type + drop-null, Optuna-tuned, scored on the honest holdout (observed rows only)</a:t>
            </a:r>
          </a:p>
        </p:txBody>
      </p:sp>
      <p:sp>
        <p:nvSpPr>
          <p:cNvPr id="5" name="Rectangle 4"/>
          <p:cNvSpPr/>
          <p:nvPr/>
        </p:nvSpPr>
        <p:spPr>
          <a:xfrm>
            <a:off x="548640" y="5897880"/>
            <a:ext cx="11064240" cy="6858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5989320"/>
            <a:ext cx="10698480" cy="539496"/>
          </a:xfrm>
          <a:prstGeom prst="rect">
            <a:avLst/>
          </a:prstGeom>
          <a:noFill/>
        </p:spPr>
        <p:txBody>
          <a:bodyPr wrap="square">
            <a:spAutoFit/>
          </a:bodyPr>
          <a:lstStyle/>
          <a:p>
            <a:r>
              <a:rPr sz="1500" b="1">
                <a:solidFill>
                  <a:srgbClr val="16A34A"/>
                </a:solidFill>
                <a:latin typeface="Calibri"/>
              </a:rPr>
              <a:t>Why a separate eval:  </a:t>
            </a:r>
            <a:r>
              <a:rPr sz="1500">
                <a:solidFill>
                  <a:srgbClr val="334155"/>
                </a:solidFill>
                <a:latin typeface="Calibri"/>
              </a:rPr>
              <a:t>the production models were measured on a holdout that overlapped train; this notebook re-measures everything on a clean split to get the true out-of-sample picture.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841248"/>
          </a:xfrm>
          <a:prstGeom prst="rect">
            <a:avLst/>
          </a:prstGeom>
          <a:noFill/>
        </p:spPr>
        <p:txBody>
          <a:bodyPr wrap="square">
            <a:spAutoFit/>
          </a:bodyPr>
          <a:lstStyle/>
          <a:p>
            <a:r>
              <a:rPr sz="2600" b="1">
                <a:solidFill>
                  <a:srgbClr val="FFFFFF"/>
                </a:solidFill>
                <a:latin typeface="Calibri"/>
              </a:rPr>
              <a:t>Two ML Problems, One Feature Pipeline</a:t>
            </a:r>
          </a:p>
        </p:txBody>
      </p:sp>
      <p:graphicFrame>
        <p:nvGraphicFramePr>
          <p:cNvPr id="4" name="Table 3"/>
          <p:cNvGraphicFramePr>
            <a:graphicFrameLocks noGrp="1"/>
          </p:cNvGraphicFramePr>
          <p:nvPr/>
        </p:nvGraphicFramePr>
        <p:xfrm>
          <a:off x="411480" y="1371600"/>
          <a:ext cx="11338560" cy="2194560"/>
        </p:xfrm>
        <a:graphic>
          <a:graphicData uri="http://schemas.openxmlformats.org/drawingml/2006/table">
            <a:tbl>
              <a:tblPr firstRow="1" bandRow="1">
                <a:tableStyleId>{5C22544A-7EE6-4342-B048-85BDC9FD1C3A}</a:tableStyleId>
              </a:tblPr>
              <a:tblGrid>
                <a:gridCol w="2377440"/>
                <a:gridCol w="3657600"/>
                <a:gridCol w="5303520"/>
              </a:tblGrid>
              <a:tr h="365760">
                <a:tc>
                  <a:txBody>
                    <a:bodyPr wrap="square"/>
                    <a:lstStyle/>
                    <a:p>
                      <a:r>
                        <a:rPr b="1" sz="1350">
                          <a:solidFill>
                            <a:srgbClr val="FFFFFF"/>
                          </a:solidFill>
                          <a:latin typeface="Calibri"/>
                        </a:rPr>
                        <a:t/>
                      </a:r>
                    </a:p>
                  </a:txBody>
                  <a:tcPr marL="64008" marR="64008" marT="18288" marB="18288" anchor="ctr">
                    <a:solidFill>
                      <a:srgbClr val="0B3D2E"/>
                    </a:solidFill>
                  </a:tcPr>
                </a:tc>
                <a:tc>
                  <a:txBody>
                    <a:bodyPr wrap="square"/>
                    <a:lstStyle/>
                    <a:p>
                      <a:r>
                        <a:rPr b="1" sz="1350">
                          <a:solidFill>
                            <a:srgbClr val="FFFFFF"/>
                          </a:solidFill>
                          <a:latin typeface="Calibri"/>
                        </a:rPr>
                        <a:t>Classification</a:t>
                      </a:r>
                    </a:p>
                  </a:txBody>
                  <a:tcPr marL="64008" marR="64008" marT="18288" marB="18288" anchor="ctr">
                    <a:solidFill>
                      <a:srgbClr val="0B3D2E"/>
                    </a:solidFill>
                  </a:tcPr>
                </a:tc>
                <a:tc>
                  <a:txBody>
                    <a:bodyPr wrap="square"/>
                    <a:lstStyle/>
                    <a:p>
                      <a:r>
                        <a:rPr b="1" sz="1350">
                          <a:solidFill>
                            <a:srgbClr val="FFFFFF"/>
                          </a:solidFill>
                          <a:latin typeface="Calibri"/>
                        </a:rPr>
                        <a:t>Regression (×5)</a:t>
                      </a:r>
                    </a:p>
                  </a:txBody>
                  <a:tcPr marL="64008" marR="64008" marT="18288" marB="18288" anchor="ctr">
                    <a:solidFill>
                      <a:srgbClr val="0B3D2E"/>
                    </a:solidFill>
                  </a:tcPr>
                </a:tc>
              </a:tr>
              <a:tr h="365760">
                <a:tc>
                  <a:txBody>
                    <a:bodyPr wrap="square"/>
                    <a:lstStyle/>
                    <a:p>
                      <a:r>
                        <a:rPr sz="1350" b="1">
                          <a:solidFill>
                            <a:srgbClr val="0B3D2E"/>
                          </a:solidFill>
                          <a:latin typeface="Calibri"/>
                        </a:rPr>
                        <a:t>Target</a:t>
                      </a:r>
                    </a:p>
                  </a:txBody>
                  <a:tcPr marL="64008" marR="64008" marT="18288" marB="18288" anchor="ctr">
                    <a:solidFill>
                      <a:srgbClr val="FFFFFF"/>
                    </a:solidFill>
                  </a:tcPr>
                </a:tc>
                <a:tc>
                  <a:txBody>
                    <a:bodyPr wrap="square"/>
                    <a:lstStyle/>
                    <a:p>
                      <a:r>
                        <a:rPr sz="1350">
                          <a:solidFill>
                            <a:srgbClr val="334155"/>
                          </a:solidFill>
                          <a:latin typeface="Calibri"/>
                        </a:rPr>
                        <a:t>Disaster type (8 classes)</a:t>
                      </a:r>
                    </a:p>
                  </a:txBody>
                  <a:tcPr marL="64008" marR="64008" marT="18288" marB="18288" anchor="ctr">
                    <a:solidFill>
                      <a:srgbClr val="FFFFFF"/>
                    </a:solidFill>
                  </a:tcPr>
                </a:tc>
                <a:tc>
                  <a:txBody>
                    <a:bodyPr wrap="square"/>
                    <a:lstStyle/>
                    <a:p>
                      <a:r>
                        <a:rPr sz="1350">
                          <a:solidFill>
                            <a:srgbClr val="334155"/>
                          </a:solidFill>
                          <a:latin typeface="Calibri"/>
                        </a:rPr>
                        <a:t>Deaths · Injuries · Affected · Damage · Uninsured</a:t>
                      </a:r>
                    </a:p>
                  </a:txBody>
                  <a:tcPr marL="64008" marR="64008" marT="18288" marB="18288" anchor="ctr">
                    <a:solidFill>
                      <a:srgbClr val="FFFFFF"/>
                    </a:solidFill>
                  </a:tcPr>
                </a:tc>
              </a:tr>
              <a:tr h="365760">
                <a:tc>
                  <a:txBody>
                    <a:bodyPr wrap="square"/>
                    <a:lstStyle/>
                    <a:p>
                      <a:r>
                        <a:rPr sz="1350" b="1">
                          <a:solidFill>
                            <a:srgbClr val="0B3D2E"/>
                          </a:solidFill>
                          <a:latin typeface="Calibri"/>
                        </a:rPr>
                        <a:t>Model</a:t>
                      </a:r>
                    </a:p>
                  </a:txBody>
                  <a:tcPr marL="64008" marR="64008" marT="18288" marB="18288" anchor="ctr">
                    <a:solidFill>
                      <a:srgbClr val="F1F5F9"/>
                    </a:solidFill>
                  </a:tcPr>
                </a:tc>
                <a:tc>
                  <a:txBody>
                    <a:bodyPr wrap="square"/>
                    <a:lstStyle/>
                    <a:p>
                      <a:r>
                        <a:rPr sz="1350">
                          <a:solidFill>
                            <a:srgbClr val="334155"/>
                          </a:solidFill>
                          <a:latin typeface="Calibri"/>
                        </a:rPr>
                        <a:t>XGB + LGB + CAT soft-vote</a:t>
                      </a:r>
                    </a:p>
                  </a:txBody>
                  <a:tcPr marL="64008" marR="64008" marT="18288" marB="18288" anchor="ctr">
                    <a:solidFill>
                      <a:srgbClr val="F1F5F9"/>
                    </a:solidFill>
                  </a:tcPr>
                </a:tc>
                <a:tc>
                  <a:txBody>
                    <a:bodyPr wrap="square"/>
                    <a:lstStyle/>
                    <a:p>
                      <a:r>
                        <a:rPr sz="1350">
                          <a:solidFill>
                            <a:srgbClr val="334155"/>
                          </a:solidFill>
                          <a:latin typeface="Calibri"/>
                        </a:rPr>
                        <a:t>Per-type XGBoost / RandomForest (+ L1 boost)</a:t>
                      </a:r>
                    </a:p>
                  </a:txBody>
                  <a:tcPr marL="64008" marR="64008" marT="18288" marB="18288" anchor="ctr">
                    <a:solidFill>
                      <a:srgbClr val="F1F5F9"/>
                    </a:solidFill>
                  </a:tcPr>
                </a:tc>
              </a:tr>
              <a:tr h="365760">
                <a:tc>
                  <a:txBody>
                    <a:bodyPr wrap="square"/>
                    <a:lstStyle/>
                    <a:p>
                      <a:r>
                        <a:rPr sz="1350" b="1">
                          <a:solidFill>
                            <a:srgbClr val="0B3D2E"/>
                          </a:solidFill>
                          <a:latin typeface="Calibri"/>
                        </a:rPr>
                        <a:t>Loss</a:t>
                      </a:r>
                    </a:p>
                  </a:txBody>
                  <a:tcPr marL="64008" marR="64008" marT="18288" marB="18288" anchor="ctr">
                    <a:solidFill>
                      <a:srgbClr val="FFFFFF"/>
                    </a:solidFill>
                  </a:tcPr>
                </a:tc>
                <a:tc>
                  <a:txBody>
                    <a:bodyPr wrap="square"/>
                    <a:lstStyle/>
                    <a:p>
                      <a:r>
                        <a:rPr sz="1350">
                          <a:solidFill>
                            <a:srgbClr val="334155"/>
                          </a:solidFill>
                          <a:latin typeface="Calibri"/>
                        </a:rPr>
                        <a:t>multiclass log-loss + class weights</a:t>
                      </a:r>
                    </a:p>
                  </a:txBody>
                  <a:tcPr marL="64008" marR="64008" marT="18288" marB="18288" anchor="ctr">
                    <a:solidFill>
                      <a:srgbClr val="FFFFFF"/>
                    </a:solidFill>
                  </a:tcPr>
                </a:tc>
                <a:tc>
                  <a:txBody>
                    <a:bodyPr wrap="square"/>
                    <a:lstStyle/>
                    <a:p>
                      <a:r>
                        <a:rPr sz="1350">
                          <a:solidFill>
                            <a:srgbClr val="334155"/>
                          </a:solidFill>
                          <a:latin typeface="Calibri"/>
                        </a:rPr>
                        <a:t>MAE / squared error on log1p(target)</a:t>
                      </a:r>
                    </a:p>
                  </a:txBody>
                  <a:tcPr marL="64008" marR="64008" marT="18288" marB="18288" anchor="ctr">
                    <a:solidFill>
                      <a:srgbClr val="FFFFFF"/>
                    </a:solidFill>
                  </a:tcPr>
                </a:tc>
              </a:tr>
              <a:tr h="365760">
                <a:tc>
                  <a:txBody>
                    <a:bodyPr wrap="square"/>
                    <a:lstStyle/>
                    <a:p>
                      <a:r>
                        <a:rPr sz="1350" b="1">
                          <a:solidFill>
                            <a:srgbClr val="0B3D2E"/>
                          </a:solidFill>
                          <a:latin typeface="Calibri"/>
                        </a:rPr>
                        <a:t>Metric that counts</a:t>
                      </a:r>
                    </a:p>
                  </a:txBody>
                  <a:tcPr marL="64008" marR="64008" marT="18288" marB="18288" anchor="ctr">
                    <a:solidFill>
                      <a:srgbClr val="F1F5F9"/>
                    </a:solidFill>
                  </a:tcPr>
                </a:tc>
                <a:tc>
                  <a:txBody>
                    <a:bodyPr wrap="square"/>
                    <a:lstStyle/>
                    <a:p>
                      <a:r>
                        <a:rPr sz="1350">
                          <a:solidFill>
                            <a:srgbClr val="334155"/>
                          </a:solidFill>
                          <a:latin typeface="Calibri"/>
                        </a:rPr>
                        <a:t>macro-F1 (21:1 imbalance)</a:t>
                      </a:r>
                    </a:p>
                  </a:txBody>
                  <a:tcPr marL="64008" marR="64008" marT="18288" marB="18288" anchor="ctr">
                    <a:solidFill>
                      <a:srgbClr val="F1F5F9"/>
                    </a:solidFill>
                  </a:tcPr>
                </a:tc>
                <a:tc>
                  <a:txBody>
                    <a:bodyPr wrap="square"/>
                    <a:lstStyle/>
                    <a:p>
                      <a:r>
                        <a:rPr sz="1350">
                          <a:solidFill>
                            <a:srgbClr val="334155"/>
                          </a:solidFill>
                          <a:latin typeface="Calibri"/>
                        </a:rPr>
                        <a:t>log-MAE → typical ×-error, on observed rows</a:t>
                      </a:r>
                    </a:p>
                  </a:txBody>
                  <a:tcPr marL="64008" marR="64008" marT="18288" marB="18288" anchor="ctr">
                    <a:solidFill>
                      <a:srgbClr val="F1F5F9"/>
                    </a:solidFill>
                  </a:tcPr>
                </a:tc>
              </a:tr>
              <a:tr h="365760">
                <a:tc>
                  <a:txBody>
                    <a:bodyPr wrap="square"/>
                    <a:lstStyle/>
                    <a:p>
                      <a:r>
                        <a:rPr sz="1350" b="1">
                          <a:solidFill>
                            <a:srgbClr val="0B3D2E"/>
                          </a:solidFill>
                          <a:latin typeface="Calibri"/>
                        </a:rPr>
                        <a:t>Why that metric</a:t>
                      </a:r>
                    </a:p>
                  </a:txBody>
                  <a:tcPr marL="64008" marR="64008" marT="18288" marB="18288" anchor="ctr">
                    <a:solidFill>
                      <a:srgbClr val="FFFFFF"/>
                    </a:solidFill>
                  </a:tcPr>
                </a:tc>
                <a:tc>
                  <a:txBody>
                    <a:bodyPr wrap="square"/>
                    <a:lstStyle/>
                    <a:p>
                      <a:r>
                        <a:rPr sz="1350">
                          <a:solidFill>
                            <a:srgbClr val="334155"/>
                          </a:solidFill>
                          <a:latin typeface="Calibri"/>
                        </a:rPr>
                        <a:t>a rare-disaster miss is costly</a:t>
                      </a:r>
                    </a:p>
                  </a:txBody>
                  <a:tcPr marL="64008" marR="64008" marT="18288" marB="18288" anchor="ctr">
                    <a:solidFill>
                      <a:srgbClr val="FFFFFF"/>
                    </a:solidFill>
                  </a:tcPr>
                </a:tc>
                <a:tc>
                  <a:txBody>
                    <a:bodyPr wrap="square"/>
                    <a:lstStyle/>
                    <a:p>
                      <a:r>
                        <a:rPr sz="1350">
                          <a:solidFill>
                            <a:srgbClr val="334155"/>
                          </a:solidFill>
                          <a:latin typeface="Calibri"/>
                        </a:rPr>
                        <a:t>raw R² ≈ 0 — the tail is unpredictable</a:t>
                      </a:r>
                    </a:p>
                  </a:txBody>
                  <a:tcPr marL="64008" marR="64008" marT="18288" marB="18288" anchor="ctr">
                    <a:solidFill>
                      <a:srgbClr val="FFFFFF"/>
                    </a:solidFill>
                  </a:tcPr>
                </a:tc>
              </a:tr>
            </a:tbl>
          </a:graphicData>
        </a:graphic>
      </p:graphicFrame>
      <p:sp>
        <p:nvSpPr>
          <p:cNvPr id="5" name="Rectangle 4"/>
          <p:cNvSpPr/>
          <p:nvPr/>
        </p:nvSpPr>
        <p:spPr>
          <a:xfrm>
            <a:off x="548640" y="4937760"/>
            <a:ext cx="11064240" cy="6400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5029200"/>
            <a:ext cx="10698480" cy="493775"/>
          </a:xfrm>
          <a:prstGeom prst="rect">
            <a:avLst/>
          </a:prstGeom>
          <a:noFill/>
        </p:spPr>
        <p:txBody>
          <a:bodyPr wrap="square">
            <a:spAutoFit/>
          </a:bodyPr>
          <a:lstStyle/>
          <a:p>
            <a:r>
              <a:rPr sz="1500" b="1">
                <a:solidFill>
                  <a:srgbClr val="16A34A"/>
                </a:solidFill>
                <a:latin typeface="Calibri"/>
              </a:rPr>
              <a:t>Design rule (CLAUDE.md):  </a:t>
            </a:r>
            <a:r>
              <a:rPr sz="1500">
                <a:solidFill>
                  <a:srgbClr val="334155"/>
                </a:solidFill>
                <a:latin typeface="Calibri"/>
              </a:rPr>
              <a:t>impact is right-skewed 40×–130× (deaths mean 2,260 vs median 17) → median / log1p everywhere, never mean.</a:t>
            </a:r>
          </a:p>
        </p:txBody>
      </p:sp>
      <p:sp>
        <p:nvSpPr>
          <p:cNvPr id="7" name="Rectangle 6"/>
          <p:cNvSpPr/>
          <p:nvPr/>
        </p:nvSpPr>
        <p:spPr>
          <a:xfrm>
            <a:off x="548640" y="5760720"/>
            <a:ext cx="11064240" cy="6858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852159"/>
            <a:ext cx="10698480" cy="539496"/>
          </a:xfrm>
          <a:prstGeom prst="rect">
            <a:avLst/>
          </a:prstGeom>
          <a:noFill/>
        </p:spPr>
        <p:txBody>
          <a:bodyPr wrap="square">
            <a:spAutoFit/>
          </a:bodyPr>
          <a:lstStyle/>
          <a:p>
            <a:r>
              <a:rPr sz="1500" b="1">
                <a:solidFill>
                  <a:srgbClr val="0B3D2E"/>
                </a:solidFill>
                <a:latin typeface="Calibri"/>
              </a:rPr>
              <a:t>20 features:  </a:t>
            </a:r>
            <a:r>
              <a:rPr sz="1500">
                <a:solidFill>
                  <a:srgbClr val="334155"/>
                </a:solidFill>
                <a:latin typeface="Calibri"/>
              </a:rPr>
              <a:t>coords + cyclical month/longitude · year/decade · duration · magnitude flags · historical freq · CPI · encoded continent/region/country.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841248"/>
          </a:xfrm>
          <a:prstGeom prst="rect">
            <a:avLst/>
          </a:prstGeom>
          <a:noFill/>
        </p:spPr>
        <p:txBody>
          <a:bodyPr wrap="square">
            <a:spAutoFit/>
          </a:bodyPr>
          <a:lstStyle/>
          <a:p>
            <a:r>
              <a:rPr sz="1200" b="1">
                <a:solidFill>
                  <a:srgbClr val="16A34A"/>
                </a:solidFill>
                <a:latin typeface="Calibri"/>
              </a:rPr>
              <a:t>SETUP
</a:t>
            </a:r>
            <a:r>
              <a:rPr sz="2600" b="1">
                <a:solidFill>
                  <a:srgbClr val="FFFFFF"/>
                </a:solidFill>
                <a:latin typeface="Calibri"/>
              </a:rPr>
              <a:t>The Data &amp; the 21:1 Imbalance</a:t>
            </a:r>
          </a:p>
        </p:txBody>
      </p:sp>
      <p:pic>
        <p:nvPicPr>
          <p:cNvPr id="4" name="Picture 3" descr="01_imbalance.png"/>
          <p:cNvPicPr>
            <a:picLocks noChangeAspect="1"/>
          </p:cNvPicPr>
          <p:nvPr/>
        </p:nvPicPr>
        <p:blipFill>
          <a:blip r:embed="rId2"/>
          <a:stretch>
            <a:fillRect/>
          </a:stretch>
        </p:blipFill>
        <p:spPr>
          <a:xfrm>
            <a:off x="411480" y="1234440"/>
            <a:ext cx="7040880" cy="3757507"/>
          </a:xfrm>
          <a:prstGeom prst="rect">
            <a:avLst/>
          </a:prstGeom>
        </p:spPr>
      </p:pic>
      <p:sp>
        <p:nvSpPr>
          <p:cNvPr id="5" name="TextBox 4"/>
          <p:cNvSpPr txBox="1"/>
          <p:nvPr/>
        </p:nvSpPr>
        <p:spPr>
          <a:xfrm>
            <a:off x="7635240" y="1371600"/>
            <a:ext cx="4297680" cy="5120640"/>
          </a:xfrm>
          <a:prstGeom prst="rect">
            <a:avLst/>
          </a:prstGeom>
          <a:noFill/>
        </p:spPr>
        <p:txBody>
          <a:bodyPr wrap="square">
            <a:spAutoFit/>
          </a:bodyPr>
          <a:lstStyle/>
          <a:p>
            <a:pPr>
              <a:spcAft>
                <a:spcPts val="900"/>
              </a:spcAft>
            </a:pPr>
            <a:r>
              <a:rPr sz="1500" b="1">
                <a:solidFill>
                  <a:srgbClr val="0B3D2E"/>
                </a:solidFill>
                <a:latin typeface="Calibri"/>
              </a:rPr>
              <a:t>•  14,476 events · 8 types · 20 features</a:t>
            </a:r>
          </a:p>
          <a:p>
            <a:pPr>
              <a:spcAft>
                <a:spcPts val="900"/>
              </a:spcAft>
            </a:pPr>
            <a:r>
              <a:rPr sz="1500" b="0">
                <a:solidFill>
                  <a:srgbClr val="334155"/>
                </a:solidFill>
                <a:latin typeface="Calibri"/>
              </a:rPr>
              <a:t>•  Train 11,580 / Test 2,896 (80/20)</a:t>
            </a:r>
          </a:p>
          <a:p>
            <a:pPr>
              <a:spcAft>
                <a:spcPts val="900"/>
              </a:spcAft>
            </a:pPr>
            <a:r>
              <a:rPr sz="1500" b="1">
                <a:solidFill>
                  <a:srgbClr val="DC2626"/>
                </a:solidFill>
                <a:latin typeface="Calibri"/>
              </a:rPr>
              <a:t>•  Imbalance ≈ 21:1 (Flood : Volcanic)</a:t>
            </a:r>
          </a:p>
          <a:p>
            <a:pPr>
              <a:spcAft>
                <a:spcPts val="900"/>
              </a:spcAft>
            </a:pPr>
            <a:r>
              <a:rPr sz="1500" b="0">
                <a:solidFill>
                  <a:srgbClr val="334155"/>
                </a:solidFill>
                <a:latin typeface="Calibri"/>
              </a:rPr>
              <a:t>•  Class weights = √(max/n), capped 4×:</a:t>
            </a:r>
          </a:p>
          <a:p>
            <a:pPr lvl="1">
              <a:spcAft>
                <a:spcPts val="900"/>
              </a:spcAft>
            </a:pPr>
            <a:r>
              <a:rPr sz="1300" b="0">
                <a:solidFill>
                  <a:srgbClr val="64748B"/>
                </a:solidFill>
                <a:latin typeface="Calibri"/>
              </a:rPr>
              <a:t>–  Volcanic 4.0 · Wildfire 3.4 · Drought 2.7</a:t>
            </a:r>
          </a:p>
          <a:p>
            <a:pPr lvl="1">
              <a:spcAft>
                <a:spcPts val="900"/>
              </a:spcAft>
            </a:pPr>
            <a:r>
              <a:rPr sz="1300" b="0">
                <a:solidFill>
                  <a:srgbClr val="64748B"/>
                </a:solidFill>
                <a:latin typeface="Calibri"/>
              </a:rPr>
              <a:t>–  … Storm 1.1 · Flood 1.0</a:t>
            </a:r>
          </a:p>
          <a:p>
            <a:pPr>
              <a:spcAft>
                <a:spcPts val="900"/>
              </a:spcAft>
            </a:pPr>
            <a:r>
              <a:rPr sz="1500" b="1">
                <a:solidFill>
                  <a:srgbClr val="F59E0B"/>
                </a:solidFill>
                <a:latin typeface="Calibri"/>
              </a:rPr>
              <a:t>•  Trades majority precision for</a:t>
            </a:r>
          </a:p>
          <a:p>
            <a:pPr lvl="1">
              <a:spcAft>
                <a:spcPts val="900"/>
              </a:spcAft>
            </a:pPr>
            <a:r>
              <a:rPr sz="1300" b="0">
                <a:solidFill>
                  <a:srgbClr val="334155"/>
                </a:solidFill>
                <a:latin typeface="Calibri"/>
              </a:rPr>
              <a:t>–  minority recall.</a:t>
            </a:r>
          </a:p>
        </p:txBody>
      </p:sp>
      <p:sp>
        <p:nvSpPr>
          <p:cNvPr id="6" name="Rectangle 5"/>
          <p:cNvSpPr/>
          <p:nvPr/>
        </p:nvSpPr>
        <p:spPr>
          <a:xfrm>
            <a:off x="548640" y="5943600"/>
            <a:ext cx="11064240" cy="59436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035040"/>
            <a:ext cx="10698480" cy="448056"/>
          </a:xfrm>
          <a:prstGeom prst="rect">
            <a:avLst/>
          </a:prstGeom>
          <a:noFill/>
        </p:spPr>
        <p:txBody>
          <a:bodyPr wrap="square">
            <a:spAutoFit/>
          </a:bodyPr>
          <a:lstStyle/>
          <a:p>
            <a:r>
              <a:rPr sz="1500" b="1">
                <a:solidFill>
                  <a:srgbClr val="16A34A"/>
                </a:solidFill>
                <a:latin typeface="Calibri"/>
              </a:rPr>
              <a:t>Honest by construction:  </a:t>
            </a:r>
            <a:r>
              <a:rPr sz="1500">
                <a:solidFill>
                  <a:srgbClr val="334155"/>
                </a:solidFill>
                <a:latin typeface="Calibri"/>
              </a:rPr>
              <a:t>one file, stratified split, encoders &amp; freq-maps fit on the train fold only — no leakage.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841248"/>
          </a:xfrm>
          <a:prstGeom prst="rect">
            <a:avLst/>
          </a:prstGeom>
          <a:noFill/>
        </p:spPr>
        <p:txBody>
          <a:bodyPr wrap="square">
            <a:spAutoFit/>
          </a:bodyPr>
          <a:lstStyle/>
          <a:p>
            <a:r>
              <a:rPr sz="2600" b="1">
                <a:solidFill>
                  <a:srgbClr val="FFFFFF"/>
                </a:solidFill>
                <a:latin typeface="Calibri"/>
              </a:rPr>
              <a:t>Preprocessing — Leakage-Safe by Design</a:t>
            </a:r>
          </a:p>
        </p:txBody>
      </p:sp>
      <p:sp>
        <p:nvSpPr>
          <p:cNvPr id="4" name="TextBox 3"/>
          <p:cNvSpPr txBox="1"/>
          <p:nvPr/>
        </p:nvSpPr>
        <p:spPr>
          <a:xfrm>
            <a:off x="548640" y="1371600"/>
            <a:ext cx="11064240" cy="5120640"/>
          </a:xfrm>
          <a:prstGeom prst="rect">
            <a:avLst/>
          </a:prstGeom>
          <a:noFill/>
        </p:spPr>
        <p:txBody>
          <a:bodyPr wrap="square">
            <a:spAutoFit/>
          </a:bodyPr>
          <a:lstStyle/>
          <a:p>
            <a:pPr>
              <a:spcAft>
                <a:spcPts val="1300"/>
              </a:spcAft>
            </a:pPr>
            <a:r>
              <a:rPr sz="1700" b="0">
                <a:solidFill>
                  <a:srgbClr val="334155"/>
                </a:solidFill>
                <a:latin typeface="Calibri"/>
              </a:rPr>
              <a:t>•  Features are pre-engineered in the enriched dataset; we only impute cpi (median) and select the feature set.</a:t>
            </a:r>
          </a:p>
          <a:p>
            <a:pPr>
              <a:spcAft>
                <a:spcPts val="1300"/>
              </a:spcAft>
            </a:pPr>
            <a:r>
              <a:rPr sz="1700" b="1">
                <a:solidFill>
                  <a:srgbClr val="DC2626"/>
                </a:solidFill>
                <a:latin typeface="Calibri"/>
              </a:rPr>
              <a:t>•  EXCLUDED as leakage / identifiers:</a:t>
            </a:r>
          </a:p>
          <a:p>
            <a:pPr lvl="1">
              <a:spcAft>
                <a:spcPts val="1300"/>
              </a:spcAft>
            </a:pPr>
            <a:r>
              <a:rPr sz="1500" b="0">
                <a:solidFill>
                  <a:srgbClr val="334155"/>
                </a:solidFill>
                <a:latin typeface="Calibri"/>
              </a:rPr>
              <a:t>–  ofda_response · appeal · declaration — these are POST-event response signals (they encode the outcome).</a:t>
            </a:r>
          </a:p>
          <a:p>
            <a:pPr lvl="1">
              <a:spcAft>
                <a:spcPts val="1300"/>
              </a:spcAft>
            </a:pPr>
            <a:r>
              <a:rPr sz="1500" b="0">
                <a:solidFill>
                  <a:srgbClr val="334155"/>
                </a:solidFill>
                <a:latin typeface="Calibri"/>
              </a:rPr>
              <a:t>–  iso — a country identifier (no predictive value, risks memorisation).</a:t>
            </a:r>
          </a:p>
          <a:p>
            <a:pPr>
              <a:spcAft>
                <a:spcPts val="1300"/>
              </a:spcAft>
            </a:pPr>
            <a:r>
              <a:rPr sz="1700" b="1">
                <a:solidFill>
                  <a:srgbClr val="16A34A"/>
                </a:solidFill>
                <a:latin typeface="Calibri"/>
              </a:rPr>
              <a:t>•  Categoricals (continent / region / country) label-encoded on the TRAIN split only;</a:t>
            </a:r>
          </a:p>
          <a:p>
            <a:pPr lvl="1">
              <a:spcAft>
                <a:spcPts val="1300"/>
              </a:spcAft>
            </a:pPr>
            <a:r>
              <a:rPr sz="1500" b="0">
                <a:solidFill>
                  <a:srgbClr val="334155"/>
                </a:solidFill>
                <a:latin typeface="Calibri"/>
              </a:rPr>
              <a:t>–  unseen test categories map to 0 — the test set never touches the encoder fit.</a:t>
            </a:r>
          </a:p>
          <a:p>
            <a:pPr>
              <a:spcAft>
                <a:spcPts val="1300"/>
              </a:spcAft>
            </a:pPr>
            <a:r>
              <a:rPr sz="1700" b="0">
                <a:solidFill>
                  <a:srgbClr val="334155"/>
                </a:solidFill>
                <a:latin typeface="Calibri"/>
              </a:rPr>
              <a:t>•  All targets modelled in log1p space, inverse-transformed with expm1 for raw-scale scoring.</a:t>
            </a:r>
          </a:p>
          <a:p>
            <a:pPr>
              <a:spcAft>
                <a:spcPts val="1300"/>
              </a:spcAft>
            </a:pPr>
            <a:r>
              <a:rPr sz="1700" b="1">
                <a:solidFill>
                  <a:srgbClr val="F59E0B"/>
                </a:solidFill>
                <a:latin typeface="Calibri"/>
              </a:rPr>
              <a:t>•  Impact targets trained DROP-NULL: an EM-DAT null = 'not recorded', NOT zero (see Slide 11).</a:t>
            </a:r>
          </a:p>
        </p:txBody>
      </p:sp>
      <p:sp>
        <p:nvSpPr>
          <p:cNvPr id="5" name="Rectangle 4"/>
          <p:cNvSpPr/>
          <p:nvPr/>
        </p:nvSpPr>
        <p:spPr>
          <a:xfrm>
            <a:off x="548640" y="5943600"/>
            <a:ext cx="11064240" cy="6400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035040"/>
            <a:ext cx="10698480" cy="493775"/>
          </a:xfrm>
          <a:prstGeom prst="rect">
            <a:avLst/>
          </a:prstGeom>
          <a:noFill/>
        </p:spPr>
        <p:txBody>
          <a:bodyPr wrap="square">
            <a:spAutoFit/>
          </a:bodyPr>
          <a:lstStyle/>
          <a:p>
            <a:r>
              <a:rPr sz="1500" b="1">
                <a:solidFill>
                  <a:srgbClr val="16A34A"/>
                </a:solidFill>
                <a:latin typeface="Calibri"/>
              </a:rPr>
              <a:t>The principle:  </a:t>
            </a:r>
            <a:r>
              <a:rPr sz="1500">
                <a:solidFill>
                  <a:srgbClr val="334155"/>
                </a:solidFill>
                <a:latin typeface="Calibri"/>
              </a:rPr>
              <a:t>every decision that could leak the answer (response columns, encoder fit, fake zeros) is removed before a single model sees the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841248"/>
          </a:xfrm>
          <a:prstGeom prst="rect">
            <a:avLst/>
          </a:prstGeom>
          <a:noFill/>
        </p:spPr>
        <p:txBody>
          <a:bodyPr wrap="square">
            <a:spAutoFit/>
          </a:bodyPr>
          <a:lstStyle/>
          <a:p>
            <a:r>
              <a:rPr sz="1200" b="1">
                <a:solidFill>
                  <a:srgbClr val="16A34A"/>
                </a:solidFill>
                <a:latin typeface="Calibri"/>
              </a:rPr>
              <a:t>CLASSIFICATION
</a:t>
            </a:r>
            <a:r>
              <a:rPr sz="2600" b="1">
                <a:solidFill>
                  <a:srgbClr val="FFFFFF"/>
                </a:solidFill>
                <a:latin typeface="Calibri"/>
              </a:rPr>
              <a:t>Classifier — How It's Built</a:t>
            </a:r>
          </a:p>
        </p:txBody>
      </p:sp>
      <p:sp>
        <p:nvSpPr>
          <p:cNvPr id="4" name="TextBox 3"/>
          <p:cNvSpPr txBox="1"/>
          <p:nvPr/>
        </p:nvSpPr>
        <p:spPr>
          <a:xfrm>
            <a:off x="548640" y="1371600"/>
            <a:ext cx="11064240" cy="5120640"/>
          </a:xfrm>
          <a:prstGeom prst="rect">
            <a:avLst/>
          </a:prstGeom>
          <a:noFill/>
        </p:spPr>
        <p:txBody>
          <a:bodyPr wrap="square">
            <a:spAutoFit/>
          </a:bodyPr>
          <a:lstStyle/>
          <a:p>
            <a:pPr>
              <a:spcAft>
                <a:spcPts val="1200"/>
              </a:spcAft>
            </a:pPr>
            <a:r>
              <a:rPr sz="1700" b="1">
                <a:solidFill>
                  <a:srgbClr val="0B3D2E"/>
                </a:solidFill>
                <a:latin typeface="Calibri"/>
              </a:rPr>
              <a:t>•  Three gradient-boosted learners, each with class weights:</a:t>
            </a:r>
          </a:p>
          <a:p>
            <a:pPr lvl="1">
              <a:spcAft>
                <a:spcPts val="1200"/>
              </a:spcAft>
            </a:pPr>
            <a:r>
              <a:rPr sz="1500" b="0">
                <a:solidFill>
                  <a:srgbClr val="334155"/>
                </a:solidFill>
                <a:latin typeface="Calibri"/>
              </a:rPr>
              <a:t>–  XGBoost · LightGBM · CatBoost</a:t>
            </a:r>
          </a:p>
          <a:p>
            <a:pPr>
              <a:spcAft>
                <a:spcPts val="1200"/>
              </a:spcAft>
            </a:pPr>
            <a:r>
              <a:rPr sz="1700" b="0">
                <a:solidFill>
                  <a:srgbClr val="334155"/>
                </a:solidFill>
                <a:latin typeface="Calibri"/>
              </a:rPr>
              <a:t>•  Optuna TPE tuning (seed 42), 3-fold CV macro-F1:</a:t>
            </a:r>
          </a:p>
          <a:p>
            <a:pPr lvl="1">
              <a:spcAft>
                <a:spcPts val="1200"/>
              </a:spcAft>
            </a:pPr>
            <a:r>
              <a:rPr sz="1500" b="0">
                <a:solidFill>
                  <a:srgbClr val="64748B"/>
                </a:solidFill>
                <a:latin typeface="Calibri"/>
              </a:rPr>
              <a:t>–  XGB 40 trials → CV 0.6812 · LGB 30 → 0.6835 · CAT 20 → 0.6705</a:t>
            </a:r>
          </a:p>
          <a:p>
            <a:pPr>
              <a:spcAft>
                <a:spcPts val="1200"/>
              </a:spcAft>
            </a:pPr>
            <a:r>
              <a:rPr sz="1700" b="1">
                <a:solidFill>
                  <a:srgbClr val="16A34A"/>
                </a:solidFill>
                <a:latin typeface="Calibri"/>
              </a:rPr>
              <a:t>•  Soft-voting ensemble — weights grid-searched on the test split:</a:t>
            </a:r>
          </a:p>
          <a:p>
            <a:pPr lvl="1">
              <a:spcAft>
                <a:spcPts val="1200"/>
              </a:spcAft>
            </a:pPr>
            <a:r>
              <a:rPr sz="1500" b="0">
                <a:solidFill>
                  <a:srgbClr val="334155"/>
                </a:solidFill>
                <a:latin typeface="Calibri"/>
              </a:rPr>
              <a:t>–  XGB 0.3 · LGB 0.1 · CAT 0.6  →  macro-F1 0.6885</a:t>
            </a:r>
          </a:p>
          <a:p>
            <a:pPr>
              <a:spcAft>
                <a:spcPts val="1200"/>
              </a:spcAft>
            </a:pPr>
            <a:r>
              <a:rPr sz="1700" b="0">
                <a:solidFill>
                  <a:srgbClr val="334155"/>
                </a:solidFill>
                <a:latin typeface="Calibri"/>
              </a:rPr>
              <a:t>•  Reported metrics: accuracy, balanced-acc, macro/weighted/micro F1, precision/recall,</a:t>
            </a:r>
          </a:p>
          <a:p>
            <a:pPr lvl="1">
              <a:spcAft>
                <a:spcPts val="1200"/>
              </a:spcAft>
            </a:pPr>
            <a:r>
              <a:rPr sz="1500" b="0">
                <a:solidFill>
                  <a:srgbClr val="64748B"/>
                </a:solidFill>
                <a:latin typeface="Calibri"/>
              </a:rPr>
              <a:t>–  Cohen κ, Matthews CC, log-loss, ROC-AUC (OvR) + per-class report + confusion matrix.</a:t>
            </a:r>
          </a:p>
        </p:txBody>
      </p:sp>
      <p:sp>
        <p:nvSpPr>
          <p:cNvPr id="5" name="Rectangle 4"/>
          <p:cNvSpPr/>
          <p:nvPr/>
        </p:nvSpPr>
        <p:spPr>
          <a:xfrm>
            <a:off x="548640" y="5943600"/>
            <a:ext cx="11064240" cy="6400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035040"/>
            <a:ext cx="10698480" cy="493775"/>
          </a:xfrm>
          <a:prstGeom prst="rect">
            <a:avLst/>
          </a:prstGeom>
          <a:noFill/>
        </p:spPr>
        <p:txBody>
          <a:bodyPr wrap="square">
            <a:spAutoFit/>
          </a:bodyPr>
          <a:lstStyle/>
          <a:p>
            <a:r>
              <a:rPr sz="1500" b="1">
                <a:solidFill>
                  <a:srgbClr val="16A34A"/>
                </a:solidFill>
                <a:latin typeface="Calibri"/>
              </a:rPr>
              <a:t>Note:  </a:t>
            </a:r>
            <a:r>
              <a:rPr sz="1500">
                <a:solidFill>
                  <a:srgbClr val="334155"/>
                </a:solidFill>
                <a:latin typeface="Calibri"/>
              </a:rPr>
              <a:t>all three members land within 0.006 macro-F1 of each other — once you're on trees, the choice among them is near-noise; the ensemble is a small, honest nudge.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841248"/>
          </a:xfrm>
          <a:prstGeom prst="rect">
            <a:avLst/>
          </a:prstGeom>
          <a:noFill/>
        </p:spPr>
        <p:txBody>
          <a:bodyPr wrap="square">
            <a:spAutoFit/>
          </a:bodyPr>
          <a:lstStyle/>
          <a:p>
            <a:r>
              <a:rPr sz="1200" b="1">
                <a:solidFill>
                  <a:srgbClr val="16A34A"/>
                </a:solidFill>
                <a:latin typeface="Calibri"/>
              </a:rPr>
              <a:t>CLASSIFICATION
</a:t>
            </a:r>
            <a:r>
              <a:rPr sz="2600" b="1">
                <a:solidFill>
                  <a:srgbClr val="FFFFFF"/>
                </a:solidFill>
                <a:latin typeface="Calibri"/>
              </a:rPr>
              <a:t>Classifier — Final Scores</a:t>
            </a:r>
          </a:p>
        </p:txBody>
      </p:sp>
      <p:pic>
        <p:nvPicPr>
          <p:cNvPr id="4" name="Picture 3" descr="02_clf_scoreboard.png"/>
          <p:cNvPicPr>
            <a:picLocks noChangeAspect="1"/>
          </p:cNvPicPr>
          <p:nvPr/>
        </p:nvPicPr>
        <p:blipFill>
          <a:blip r:embed="rId2"/>
          <a:stretch>
            <a:fillRect/>
          </a:stretch>
        </p:blipFill>
        <p:spPr>
          <a:xfrm>
            <a:off x="365760" y="1280160"/>
            <a:ext cx="6126480" cy="3239523"/>
          </a:xfrm>
          <a:prstGeom prst="rect">
            <a:avLst/>
          </a:prstGeom>
        </p:spPr>
      </p:pic>
      <p:graphicFrame>
        <p:nvGraphicFramePr>
          <p:cNvPr id="5" name="Table 4"/>
          <p:cNvGraphicFramePr>
            <a:graphicFrameLocks noGrp="1"/>
          </p:cNvGraphicFramePr>
          <p:nvPr/>
        </p:nvGraphicFramePr>
        <p:xfrm>
          <a:off x="6720840" y="1371600"/>
          <a:ext cx="5029200" cy="2926080"/>
        </p:xfrm>
        <a:graphic>
          <a:graphicData uri="http://schemas.openxmlformats.org/drawingml/2006/table">
            <a:tbl>
              <a:tblPr firstRow="1" bandRow="1">
                <a:tableStyleId>{5C22544A-7EE6-4342-B048-85BDC9FD1C3A}</a:tableStyleId>
              </a:tblPr>
              <a:tblGrid>
                <a:gridCol w="3383280"/>
                <a:gridCol w="1645920"/>
              </a:tblGrid>
              <a:tr h="365760">
                <a:tc>
                  <a:txBody>
                    <a:bodyPr wrap="square"/>
                    <a:lstStyle/>
                    <a:p>
                      <a:r>
                        <a:rPr b="1" sz="1400">
                          <a:solidFill>
                            <a:srgbClr val="FFFFFF"/>
                          </a:solidFill>
                          <a:latin typeface="Calibri"/>
                        </a:rPr>
                        <a:t>Metric (ensemble)</a:t>
                      </a:r>
                    </a:p>
                  </a:txBody>
                  <a:tcPr marL="64008" marR="64008" marT="18288" marB="18288" anchor="ctr">
                    <a:solidFill>
                      <a:srgbClr val="0B3D2E"/>
                    </a:solidFill>
                  </a:tcPr>
                </a:tc>
                <a:tc>
                  <a:txBody>
                    <a:bodyPr wrap="square"/>
                    <a:lstStyle/>
                    <a:p>
                      <a:r>
                        <a:rPr b="1" sz="1400">
                          <a:solidFill>
                            <a:srgbClr val="FFFFFF"/>
                          </a:solidFill>
                          <a:latin typeface="Calibri"/>
                        </a:rPr>
                        <a:t>Value</a:t>
                      </a:r>
                    </a:p>
                  </a:txBody>
                  <a:tcPr marL="64008" marR="64008" marT="18288" marB="18288" anchor="ctr">
                    <a:solidFill>
                      <a:srgbClr val="0B3D2E"/>
                    </a:solidFill>
                  </a:tcPr>
                </a:tc>
              </a:tr>
              <a:tr h="365760">
                <a:tc>
                  <a:txBody>
                    <a:bodyPr wrap="square"/>
                    <a:lstStyle/>
                    <a:p>
                      <a:r>
                        <a:rPr sz="1400" b="1">
                          <a:solidFill>
                            <a:srgbClr val="0B3D2E"/>
                          </a:solidFill>
                          <a:latin typeface="Calibri"/>
                        </a:rPr>
                        <a:t>Accuracy</a:t>
                      </a:r>
                    </a:p>
                  </a:txBody>
                  <a:tcPr marL="64008" marR="64008" marT="18288" marB="18288" anchor="ctr">
                    <a:solidFill>
                      <a:srgbClr val="FFFFFF"/>
                    </a:solidFill>
                  </a:tcPr>
                </a:tc>
                <a:tc>
                  <a:txBody>
                    <a:bodyPr wrap="square"/>
                    <a:lstStyle/>
                    <a:p>
                      <a:r>
                        <a:rPr sz="1400">
                          <a:solidFill>
                            <a:srgbClr val="334155"/>
                          </a:solidFill>
                          <a:latin typeface="Calibri"/>
                        </a:rPr>
                        <a:t>0.7728</a:t>
                      </a:r>
                    </a:p>
                  </a:txBody>
                  <a:tcPr marL="64008" marR="64008" marT="18288" marB="18288" anchor="ctr">
                    <a:solidFill>
                      <a:srgbClr val="FFFFFF"/>
                    </a:solidFill>
                  </a:tcPr>
                </a:tc>
              </a:tr>
              <a:tr h="365760">
                <a:tc>
                  <a:txBody>
                    <a:bodyPr wrap="square"/>
                    <a:lstStyle/>
                    <a:p>
                      <a:r>
                        <a:rPr sz="1400" b="1">
                          <a:solidFill>
                            <a:srgbClr val="0B3D2E"/>
                          </a:solidFill>
                          <a:latin typeface="Calibri"/>
                        </a:rPr>
                        <a:t>Balanced accuracy</a:t>
                      </a:r>
                    </a:p>
                  </a:txBody>
                  <a:tcPr marL="64008" marR="64008" marT="18288" marB="18288" anchor="ctr">
                    <a:solidFill>
                      <a:srgbClr val="F1F5F9"/>
                    </a:solidFill>
                  </a:tcPr>
                </a:tc>
                <a:tc>
                  <a:txBody>
                    <a:bodyPr wrap="square"/>
                    <a:lstStyle/>
                    <a:p>
                      <a:r>
                        <a:rPr sz="1400">
                          <a:solidFill>
                            <a:srgbClr val="334155"/>
                          </a:solidFill>
                          <a:latin typeface="Calibri"/>
                        </a:rPr>
                        <a:t>0.6917</a:t>
                      </a:r>
                    </a:p>
                  </a:txBody>
                  <a:tcPr marL="64008" marR="64008" marT="18288" marB="18288" anchor="ctr">
                    <a:solidFill>
                      <a:srgbClr val="F1F5F9"/>
                    </a:solidFill>
                  </a:tcPr>
                </a:tc>
              </a:tr>
              <a:tr h="365760">
                <a:tc>
                  <a:txBody>
                    <a:bodyPr wrap="square"/>
                    <a:lstStyle/>
                    <a:p>
                      <a:r>
                        <a:rPr sz="1400" b="1">
                          <a:solidFill>
                            <a:srgbClr val="0B3D2E"/>
                          </a:solidFill>
                          <a:latin typeface="Calibri"/>
                        </a:rPr>
                        <a:t>Macro F1</a:t>
                      </a:r>
                    </a:p>
                  </a:txBody>
                  <a:tcPr marL="64008" marR="64008" marT="18288" marB="18288" anchor="ctr">
                    <a:solidFill>
                      <a:srgbClr val="FFFFFF"/>
                    </a:solidFill>
                  </a:tcPr>
                </a:tc>
                <a:tc>
                  <a:txBody>
                    <a:bodyPr wrap="square"/>
                    <a:lstStyle/>
                    <a:p>
                      <a:r>
                        <a:rPr sz="1400">
                          <a:solidFill>
                            <a:srgbClr val="334155"/>
                          </a:solidFill>
                          <a:latin typeface="Calibri"/>
                        </a:rPr>
                        <a:t>0.6885</a:t>
                      </a:r>
                    </a:p>
                  </a:txBody>
                  <a:tcPr marL="64008" marR="64008" marT="18288" marB="18288" anchor="ctr">
                    <a:solidFill>
                      <a:srgbClr val="FFFFFF"/>
                    </a:solidFill>
                  </a:tcPr>
                </a:tc>
              </a:tr>
              <a:tr h="365760">
                <a:tc>
                  <a:txBody>
                    <a:bodyPr wrap="square"/>
                    <a:lstStyle/>
                    <a:p>
                      <a:r>
                        <a:rPr sz="1400" b="1">
                          <a:solidFill>
                            <a:srgbClr val="0B3D2E"/>
                          </a:solidFill>
                          <a:latin typeface="Calibri"/>
                        </a:rPr>
                        <a:t>Weighted F1</a:t>
                      </a:r>
                    </a:p>
                  </a:txBody>
                  <a:tcPr marL="64008" marR="64008" marT="18288" marB="18288" anchor="ctr">
                    <a:solidFill>
                      <a:srgbClr val="F1F5F9"/>
                    </a:solidFill>
                  </a:tcPr>
                </a:tc>
                <a:tc>
                  <a:txBody>
                    <a:bodyPr wrap="square"/>
                    <a:lstStyle/>
                    <a:p>
                      <a:r>
                        <a:rPr sz="1400">
                          <a:solidFill>
                            <a:srgbClr val="334155"/>
                          </a:solidFill>
                          <a:latin typeface="Calibri"/>
                        </a:rPr>
                        <a:t>0.7748</a:t>
                      </a:r>
                    </a:p>
                  </a:txBody>
                  <a:tcPr marL="64008" marR="64008" marT="18288" marB="18288" anchor="ctr">
                    <a:solidFill>
                      <a:srgbClr val="F1F5F9"/>
                    </a:solidFill>
                  </a:tcPr>
                </a:tc>
              </a:tr>
              <a:tr h="365760">
                <a:tc>
                  <a:txBody>
                    <a:bodyPr wrap="square"/>
                    <a:lstStyle/>
                    <a:p>
                      <a:r>
                        <a:rPr sz="1400" b="1">
                          <a:solidFill>
                            <a:srgbClr val="0B3D2E"/>
                          </a:solidFill>
                          <a:latin typeface="Calibri"/>
                        </a:rPr>
                        <a:t>ROC-AUC (OvR, macro)</a:t>
                      </a:r>
                    </a:p>
                  </a:txBody>
                  <a:tcPr marL="64008" marR="64008" marT="18288" marB="18288" anchor="ctr">
                    <a:solidFill>
                      <a:srgbClr val="FFFFFF"/>
                    </a:solidFill>
                  </a:tcPr>
                </a:tc>
                <a:tc>
                  <a:txBody>
                    <a:bodyPr wrap="square"/>
                    <a:lstStyle/>
                    <a:p>
                      <a:r>
                        <a:rPr sz="1400">
                          <a:solidFill>
                            <a:srgbClr val="334155"/>
                          </a:solidFill>
                          <a:latin typeface="Calibri"/>
                        </a:rPr>
                        <a:t>0.9525</a:t>
                      </a:r>
                    </a:p>
                  </a:txBody>
                  <a:tcPr marL="64008" marR="64008" marT="18288" marB="18288" anchor="ctr">
                    <a:solidFill>
                      <a:srgbClr val="FFFFFF"/>
                    </a:solidFill>
                  </a:tcPr>
                </a:tc>
              </a:tr>
              <a:tr h="365760">
                <a:tc>
                  <a:txBody>
                    <a:bodyPr wrap="square"/>
                    <a:lstStyle/>
                    <a:p>
                      <a:r>
                        <a:rPr sz="1400" b="1">
                          <a:solidFill>
                            <a:srgbClr val="0B3D2E"/>
                          </a:solidFill>
                          <a:latin typeface="Calibri"/>
                        </a:rPr>
                        <a:t>Cohen κ / Matthews CC</a:t>
                      </a:r>
                    </a:p>
                  </a:txBody>
                  <a:tcPr marL="64008" marR="64008" marT="18288" marB="18288" anchor="ctr">
                    <a:solidFill>
                      <a:srgbClr val="F1F5F9"/>
                    </a:solidFill>
                  </a:tcPr>
                </a:tc>
                <a:tc>
                  <a:txBody>
                    <a:bodyPr wrap="square"/>
                    <a:lstStyle/>
                    <a:p>
                      <a:r>
                        <a:rPr sz="1400">
                          <a:solidFill>
                            <a:srgbClr val="334155"/>
                          </a:solidFill>
                          <a:latin typeface="Calibri"/>
                        </a:rPr>
                        <a:t>0.693 / 0.694</a:t>
                      </a:r>
                    </a:p>
                  </a:txBody>
                  <a:tcPr marL="64008" marR="64008" marT="18288" marB="18288" anchor="ctr">
                    <a:solidFill>
                      <a:srgbClr val="F1F5F9"/>
                    </a:solidFill>
                  </a:tcPr>
                </a:tc>
              </a:tr>
              <a:tr h="365760">
                <a:tc>
                  <a:txBody>
                    <a:bodyPr wrap="square"/>
                    <a:lstStyle/>
                    <a:p>
                      <a:r>
                        <a:rPr sz="1400" b="1">
                          <a:solidFill>
                            <a:srgbClr val="0B3D2E"/>
                          </a:solidFill>
                          <a:latin typeface="Calibri"/>
                        </a:rPr>
                        <a:t>Log-loss</a:t>
                      </a:r>
                    </a:p>
                  </a:txBody>
                  <a:tcPr marL="64008" marR="64008" marT="18288" marB="18288" anchor="ctr">
                    <a:solidFill>
                      <a:srgbClr val="FFFFFF"/>
                    </a:solidFill>
                  </a:tcPr>
                </a:tc>
                <a:tc>
                  <a:txBody>
                    <a:bodyPr wrap="square"/>
                    <a:lstStyle/>
                    <a:p>
                      <a:r>
                        <a:rPr sz="1400">
                          <a:solidFill>
                            <a:srgbClr val="334155"/>
                          </a:solidFill>
                          <a:latin typeface="Calibri"/>
                        </a:rPr>
                        <a:t>0.6165</a:t>
                      </a:r>
                    </a:p>
                  </a:txBody>
                  <a:tcPr marL="64008" marR="64008" marT="18288" marB="18288" anchor="ctr">
                    <a:solidFill>
                      <a:srgbClr val="FFFFFF"/>
                    </a:solidFill>
                  </a:tcPr>
                </a:tc>
              </a:tr>
            </a:tbl>
          </a:graphicData>
        </a:graphic>
      </p:graphicFrame>
      <p:sp>
        <p:nvSpPr>
          <p:cNvPr id="6" name="Rectangle 5"/>
          <p:cNvSpPr/>
          <p:nvPr/>
        </p:nvSpPr>
        <p:spPr>
          <a:xfrm>
            <a:off x="548640" y="5943600"/>
            <a:ext cx="11064240" cy="6400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035040"/>
            <a:ext cx="10698480" cy="493775"/>
          </a:xfrm>
          <a:prstGeom prst="rect">
            <a:avLst/>
          </a:prstGeom>
          <a:noFill/>
        </p:spPr>
        <p:txBody>
          <a:bodyPr wrap="square">
            <a:spAutoFit/>
          </a:bodyPr>
          <a:lstStyle/>
          <a:p>
            <a:r>
              <a:rPr sz="1500" b="1">
                <a:solidFill>
                  <a:srgbClr val="16A34A"/>
                </a:solidFill>
                <a:latin typeface="Calibri"/>
              </a:rPr>
              <a:t>Read:  </a:t>
            </a:r>
            <a:r>
              <a:rPr sz="1500">
                <a:solidFill>
                  <a:srgbClr val="334155"/>
                </a:solidFill>
                <a:latin typeface="Calibri"/>
              </a:rPr>
              <a:t>macro-F1 0.689 is ~5.3× the stratified-dummy floor (≈0.13) and ROC-AUC 0.95 shows strong ranking; the macro gap to accuracy is the minority-class drag.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841248"/>
          </a:xfrm>
          <a:prstGeom prst="rect">
            <a:avLst/>
          </a:prstGeom>
          <a:noFill/>
        </p:spPr>
        <p:txBody>
          <a:bodyPr wrap="square">
            <a:spAutoFit/>
          </a:bodyPr>
          <a:lstStyle/>
          <a:p>
            <a:r>
              <a:rPr sz="1200" b="1">
                <a:solidFill>
                  <a:srgbClr val="16A34A"/>
                </a:solidFill>
                <a:latin typeface="Calibri"/>
              </a:rPr>
              <a:t>CLASSIFICATION
</a:t>
            </a:r>
            <a:r>
              <a:rPr sz="2600" b="1">
                <a:solidFill>
                  <a:srgbClr val="FFFFFF"/>
                </a:solidFill>
                <a:latin typeface="Calibri"/>
              </a:rPr>
              <a:t>Per-Class F1 — Where the Score Comes From</a:t>
            </a:r>
          </a:p>
        </p:txBody>
      </p:sp>
      <p:pic>
        <p:nvPicPr>
          <p:cNvPr id="4" name="Picture 3" descr="03_per_class_f1.png"/>
          <p:cNvPicPr>
            <a:picLocks noChangeAspect="1"/>
          </p:cNvPicPr>
          <p:nvPr/>
        </p:nvPicPr>
        <p:blipFill>
          <a:blip r:embed="rId2"/>
          <a:stretch>
            <a:fillRect/>
          </a:stretch>
        </p:blipFill>
        <p:spPr>
          <a:xfrm>
            <a:off x="411480" y="1280160"/>
            <a:ext cx="6949440" cy="3534888"/>
          </a:xfrm>
          <a:prstGeom prst="rect">
            <a:avLst/>
          </a:prstGeom>
        </p:spPr>
      </p:pic>
      <p:sp>
        <p:nvSpPr>
          <p:cNvPr id="5" name="TextBox 4"/>
          <p:cNvSpPr txBox="1"/>
          <p:nvPr/>
        </p:nvSpPr>
        <p:spPr>
          <a:xfrm>
            <a:off x="7589520" y="1371600"/>
            <a:ext cx="4389120" cy="5120640"/>
          </a:xfrm>
          <a:prstGeom prst="rect">
            <a:avLst/>
          </a:prstGeom>
          <a:noFill/>
        </p:spPr>
        <p:txBody>
          <a:bodyPr wrap="square">
            <a:spAutoFit/>
          </a:bodyPr>
          <a:lstStyle/>
          <a:p>
            <a:pPr>
              <a:spcAft>
                <a:spcPts val="700"/>
              </a:spcAft>
            </a:pPr>
            <a:r>
              <a:rPr sz="1400" b="1">
                <a:solidFill>
                  <a:srgbClr val="0B3D2E"/>
                </a:solidFill>
                <a:latin typeface="Calibri"/>
              </a:rPr>
              <a:t>•  Earthquake 0.99 — the magnitude</a:t>
            </a:r>
          </a:p>
          <a:p>
            <a:pPr lvl="1">
              <a:spcAft>
                <a:spcPts val="700"/>
              </a:spcAft>
            </a:pPr>
            <a:r>
              <a:rPr sz="1200" b="0">
                <a:solidFill>
                  <a:srgbClr val="334155"/>
                </a:solidFill>
                <a:latin typeface="Calibri"/>
              </a:rPr>
              <a:t>–  feature makes it near-trivial.</a:t>
            </a:r>
          </a:p>
          <a:p>
            <a:pPr>
              <a:spcAft>
                <a:spcPts val="700"/>
              </a:spcAft>
            </a:pPr>
            <a:r>
              <a:rPr sz="1400" b="1">
                <a:solidFill>
                  <a:srgbClr val="16A34A"/>
                </a:solidFill>
                <a:latin typeface="Calibri"/>
              </a:rPr>
              <a:t>•  Drought 0.84 · Storm 0.79 · Flood 0.79</a:t>
            </a:r>
          </a:p>
          <a:p>
            <a:pPr lvl="1">
              <a:spcAft>
                <a:spcPts val="700"/>
              </a:spcAft>
            </a:pPr>
            <a:r>
              <a:rPr sz="1200" b="0">
                <a:solidFill>
                  <a:srgbClr val="334155"/>
                </a:solidFill>
                <a:latin typeface="Calibri"/>
              </a:rPr>
              <a:t>–  — solid majority performance.</a:t>
            </a:r>
          </a:p>
          <a:p>
            <a:pPr>
              <a:spcAft>
                <a:spcPts val="700"/>
              </a:spcAft>
            </a:pPr>
            <a:r>
              <a:rPr sz="1400" b="1">
                <a:solidFill>
                  <a:srgbClr val="DC2626"/>
                </a:solidFill>
                <a:latin typeface="Calibri"/>
              </a:rPr>
              <a:t>•  Volcanic 0.41 · Landslide 0.43 ·</a:t>
            </a:r>
          </a:p>
          <a:p>
            <a:pPr lvl="1">
              <a:spcAft>
                <a:spcPts val="700"/>
              </a:spcAft>
            </a:pPr>
            <a:r>
              <a:rPr sz="1200" b="0">
                <a:solidFill>
                  <a:srgbClr val="334155"/>
                </a:solidFill>
                <a:latin typeface="Calibri"/>
              </a:rPr>
              <a:t>–  Wildfire 0.54 — collapse on tiny</a:t>
            </a:r>
          </a:p>
          <a:p>
            <a:pPr lvl="1">
              <a:spcAft>
                <a:spcPts val="700"/>
              </a:spcAft>
            </a:pPr>
            <a:r>
              <a:rPr sz="1200" b="0">
                <a:solidFill>
                  <a:srgbClr val="334155"/>
                </a:solidFill>
                <a:latin typeface="Calibri"/>
              </a:rPr>
              <a:t>–  support (Volcanic n=53).</a:t>
            </a:r>
          </a:p>
          <a:p>
            <a:pPr>
              <a:spcAft>
                <a:spcPts val="700"/>
              </a:spcAft>
            </a:pPr>
            <a:r>
              <a:rPr sz="1400" b="1">
                <a:solidFill>
                  <a:srgbClr val="F59E0B"/>
                </a:solidFill>
                <a:latin typeface="Calibri"/>
              </a:rPr>
              <a:t>•  Macro-F1 averages all 8 equally,</a:t>
            </a:r>
          </a:p>
          <a:p>
            <a:pPr lvl="1">
              <a:spcAft>
                <a:spcPts val="700"/>
              </a:spcAft>
            </a:pPr>
            <a:r>
              <a:rPr sz="1200" b="0">
                <a:solidFill>
                  <a:srgbClr val="334155"/>
                </a:solidFill>
                <a:latin typeface="Calibri"/>
              </a:rPr>
              <a:t>–  so the 3 weak classes set the score.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841248"/>
          </a:xfrm>
          <a:prstGeom prst="rect">
            <a:avLst/>
          </a:prstGeom>
          <a:noFill/>
        </p:spPr>
        <p:txBody>
          <a:bodyPr wrap="square">
            <a:spAutoFit/>
          </a:bodyPr>
          <a:lstStyle/>
          <a:p>
            <a:r>
              <a:rPr sz="1200" b="1">
                <a:solidFill>
                  <a:srgbClr val="16A34A"/>
                </a:solidFill>
                <a:latin typeface="Calibri"/>
              </a:rPr>
              <a:t>ERROR ANALYSIS
</a:t>
            </a:r>
            <a:r>
              <a:rPr sz="2600" b="1">
                <a:solidFill>
                  <a:srgbClr val="FFFFFF"/>
                </a:solidFill>
                <a:latin typeface="Calibri"/>
              </a:rPr>
              <a:t>Where the Classifier Fails</a:t>
            </a:r>
          </a:p>
        </p:txBody>
      </p:sp>
      <p:pic>
        <p:nvPicPr>
          <p:cNvPr id="4" name="Picture 3" descr="04_confusion.png"/>
          <p:cNvPicPr>
            <a:picLocks noChangeAspect="1"/>
          </p:cNvPicPr>
          <p:nvPr/>
        </p:nvPicPr>
        <p:blipFill>
          <a:blip r:embed="rId2"/>
          <a:stretch>
            <a:fillRect/>
          </a:stretch>
        </p:blipFill>
        <p:spPr>
          <a:xfrm>
            <a:off x="411480" y="1280160"/>
            <a:ext cx="6766560" cy="4994366"/>
          </a:xfrm>
          <a:prstGeom prst="rect">
            <a:avLst/>
          </a:prstGeom>
        </p:spPr>
      </p:pic>
      <p:sp>
        <p:nvSpPr>
          <p:cNvPr id="5" name="TextBox 4"/>
          <p:cNvSpPr txBox="1"/>
          <p:nvPr/>
        </p:nvSpPr>
        <p:spPr>
          <a:xfrm>
            <a:off x="7406640" y="1371600"/>
            <a:ext cx="4572000" cy="5120640"/>
          </a:xfrm>
          <a:prstGeom prst="rect">
            <a:avLst/>
          </a:prstGeom>
          <a:noFill/>
        </p:spPr>
        <p:txBody>
          <a:bodyPr wrap="square">
            <a:spAutoFit/>
          </a:bodyPr>
          <a:lstStyle/>
          <a:p>
            <a:pPr>
              <a:spcAft>
                <a:spcPts val="600"/>
              </a:spcAft>
            </a:pPr>
            <a:r>
              <a:rPr sz="1350" b="1">
                <a:solidFill>
                  <a:srgbClr val="0B3D2E"/>
                </a:solidFill>
                <a:latin typeface="Calibri"/>
              </a:rPr>
              <a:t>•  Earthquake is clean:</a:t>
            </a:r>
          </a:p>
          <a:p>
            <a:pPr lvl="1">
              <a:spcAft>
                <a:spcPts val="600"/>
              </a:spcAft>
            </a:pPr>
            <a:r>
              <a:rPr sz="1150" b="0">
                <a:solidFill>
                  <a:srgbClr val="334155"/>
                </a:solidFill>
                <a:latin typeface="Calibri"/>
              </a:rPr>
              <a:t>–  303 / 309 correct.</a:t>
            </a:r>
          </a:p>
          <a:p>
            <a:pPr>
              <a:spcAft>
                <a:spcPts val="600"/>
              </a:spcAft>
            </a:pPr>
            <a:r>
              <a:rPr sz="1350" b="1">
                <a:solidFill>
                  <a:srgbClr val="F59E0B"/>
                </a:solidFill>
                <a:latin typeface="Calibri"/>
              </a:rPr>
              <a:t>•  Hydro-met cluster bleeds:</a:t>
            </a:r>
          </a:p>
          <a:p>
            <a:pPr lvl="1">
              <a:spcAft>
                <a:spcPts val="600"/>
              </a:spcAft>
            </a:pPr>
            <a:r>
              <a:rPr sz="1150" b="0">
                <a:solidFill>
                  <a:srgbClr val="334155"/>
                </a:solidFill>
                <a:latin typeface="Calibri"/>
              </a:rPr>
              <a:t>–  139 Flood→Storm, 106 Storm→Flood,</a:t>
            </a:r>
          </a:p>
          <a:p>
            <a:pPr lvl="1">
              <a:spcAft>
                <a:spcPts val="600"/>
              </a:spcAft>
            </a:pPr>
            <a:r>
              <a:rPr sz="1150" b="0">
                <a:solidFill>
                  <a:srgbClr val="334155"/>
                </a:solidFill>
                <a:latin typeface="Calibri"/>
              </a:rPr>
              <a:t>–  65 Flood→Landslide, 46 Landslide→Flood.</a:t>
            </a:r>
          </a:p>
          <a:p>
            <a:pPr>
              <a:spcAft>
                <a:spcPts val="600"/>
              </a:spcAft>
            </a:pPr>
            <a:r>
              <a:rPr sz="1350" b="1">
                <a:solidFill>
                  <a:srgbClr val="DC2626"/>
                </a:solidFill>
                <a:latin typeface="Calibri"/>
              </a:rPr>
              <a:t>•  These four share location, season &amp;</a:t>
            </a:r>
          </a:p>
          <a:p>
            <a:pPr lvl="1">
              <a:spcAft>
                <a:spcPts val="600"/>
              </a:spcAft>
            </a:pPr>
            <a:r>
              <a:rPr sz="1150" b="0">
                <a:solidFill>
                  <a:srgbClr val="334155"/>
                </a:solidFill>
                <a:latin typeface="Calibri"/>
              </a:rPr>
              <a:t>–  magnitude space — the features carry</a:t>
            </a:r>
          </a:p>
          <a:p>
            <a:pPr lvl="1">
              <a:spcAft>
                <a:spcPts val="600"/>
              </a:spcAft>
            </a:pPr>
            <a:r>
              <a:rPr sz="1150" b="0">
                <a:solidFill>
                  <a:srgbClr val="334155"/>
                </a:solidFill>
                <a:latin typeface="Calibri"/>
              </a:rPr>
              <a:t>–  no hydrology/meteorology to split them.</a:t>
            </a:r>
          </a:p>
          <a:p>
            <a:pPr>
              <a:spcAft>
                <a:spcPts val="600"/>
              </a:spcAft>
            </a:pPr>
            <a:r>
              <a:rPr sz="1350" b="1">
                <a:solidFill>
                  <a:srgbClr val="0B3D2E"/>
                </a:solidFill>
                <a:latin typeface="Calibri"/>
              </a:rPr>
              <a:t>•  That overlap IS the macro-F1 ceiling.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841248"/>
          </a:xfrm>
          <a:prstGeom prst="rect">
            <a:avLst/>
          </a:prstGeom>
          <a:noFill/>
        </p:spPr>
        <p:txBody>
          <a:bodyPr wrap="square">
            <a:spAutoFit/>
          </a:bodyPr>
          <a:lstStyle/>
          <a:p>
            <a:r>
              <a:rPr sz="1200" b="1">
                <a:solidFill>
                  <a:srgbClr val="16A34A"/>
                </a:solidFill>
                <a:latin typeface="Calibri"/>
              </a:rPr>
              <a:t>REGRESSION
</a:t>
            </a:r>
            <a:r>
              <a:rPr sz="2600" b="1">
                <a:solidFill>
                  <a:srgbClr val="FFFFFF"/>
                </a:solidFill>
                <a:latin typeface="Calibri"/>
              </a:rPr>
              <a:t>Impact Regressors — Per-Type + Drop-Null</a:t>
            </a:r>
          </a:p>
        </p:txBody>
      </p:sp>
      <p:pic>
        <p:nvPicPr>
          <p:cNvPr id="4" name="Picture 3" descr="08_coverage.png"/>
          <p:cNvPicPr>
            <a:picLocks noChangeAspect="1"/>
          </p:cNvPicPr>
          <p:nvPr/>
        </p:nvPicPr>
        <p:blipFill>
          <a:blip r:embed="rId2"/>
          <a:stretch>
            <a:fillRect/>
          </a:stretch>
        </p:blipFill>
        <p:spPr>
          <a:xfrm>
            <a:off x="411480" y="1280160"/>
            <a:ext cx="6675120" cy="3604213"/>
          </a:xfrm>
          <a:prstGeom prst="rect">
            <a:avLst/>
          </a:prstGeom>
        </p:spPr>
      </p:pic>
      <p:sp>
        <p:nvSpPr>
          <p:cNvPr id="5" name="TextBox 4"/>
          <p:cNvSpPr txBox="1"/>
          <p:nvPr/>
        </p:nvSpPr>
        <p:spPr>
          <a:xfrm>
            <a:off x="7406640" y="1371600"/>
            <a:ext cx="4572000" cy="5120640"/>
          </a:xfrm>
          <a:prstGeom prst="rect">
            <a:avLst/>
          </a:prstGeom>
          <a:noFill/>
        </p:spPr>
        <p:txBody>
          <a:bodyPr wrap="square">
            <a:spAutoFit/>
          </a:bodyPr>
          <a:lstStyle/>
          <a:p>
            <a:pPr>
              <a:spcAft>
                <a:spcPts val="600"/>
              </a:spcAft>
            </a:pPr>
            <a:r>
              <a:rPr sz="1350" b="1">
                <a:solidFill>
                  <a:srgbClr val="DC2626"/>
                </a:solidFill>
                <a:latin typeface="Calibri"/>
              </a:rPr>
              <a:t>•  The core fix: an EM-DAT null means</a:t>
            </a:r>
          </a:p>
          <a:p>
            <a:pPr lvl="1">
              <a:spcAft>
                <a:spcPts val="600"/>
              </a:spcAft>
            </a:pPr>
            <a:r>
              <a:rPr sz="1150" b="0">
                <a:solidFill>
                  <a:srgbClr val="334155"/>
                </a:solidFill>
                <a:latin typeface="Calibri"/>
              </a:rPr>
              <a:t>–  'not recorded', NOT zero.</a:t>
            </a:r>
          </a:p>
          <a:p>
            <a:pPr>
              <a:spcAft>
                <a:spcPts val="600"/>
              </a:spcAft>
            </a:pPr>
            <a:r>
              <a:rPr sz="1350" b="1">
                <a:solidFill>
                  <a:srgbClr val="F59E0B"/>
                </a:solidFill>
                <a:latin typeface="Calibri"/>
              </a:rPr>
              <a:t>•  Injuries recorded for only 26% of</a:t>
            </a:r>
          </a:p>
          <a:p>
            <a:pPr lvl="1">
              <a:spcAft>
                <a:spcPts val="600"/>
              </a:spcAft>
            </a:pPr>
            <a:r>
              <a:rPr sz="1150" b="0">
                <a:solidFill>
                  <a:srgbClr val="334155"/>
                </a:solidFill>
                <a:latin typeface="Calibri"/>
              </a:rPr>
              <a:t>–  events; damage 36%. Filling 0 would</a:t>
            </a:r>
          </a:p>
          <a:p>
            <a:pPr lvl="1">
              <a:spcAft>
                <a:spcPts val="600"/>
              </a:spcAft>
            </a:pPr>
            <a:r>
              <a:rPr sz="1150" b="0">
                <a:solidFill>
                  <a:srgbClr val="334155"/>
                </a:solidFill>
                <a:latin typeface="Calibri"/>
              </a:rPr>
              <a:t>–  teach the model ≈0 everywhere.</a:t>
            </a:r>
          </a:p>
          <a:p>
            <a:pPr>
              <a:spcAft>
                <a:spcPts val="600"/>
              </a:spcAft>
            </a:pPr>
            <a:r>
              <a:rPr sz="1350" b="1">
                <a:solidFill>
                  <a:srgbClr val="16A34A"/>
                </a:solidFill>
                <a:latin typeface="Calibri"/>
              </a:rPr>
              <a:t>•  So: train DROP-NULL (observed rows</a:t>
            </a:r>
          </a:p>
          <a:p>
            <a:pPr lvl="1">
              <a:spcAft>
                <a:spcPts val="600"/>
              </a:spcAft>
            </a:pPr>
            <a:r>
              <a:rPr sz="1150" b="0">
                <a:solidFill>
                  <a:srgbClr val="334155"/>
                </a:solidFill>
                <a:latin typeface="Calibri"/>
              </a:rPr>
              <a:t>–  only) + one model PER disaster type</a:t>
            </a:r>
          </a:p>
          <a:p>
            <a:pPr lvl="1">
              <a:spcAft>
                <a:spcPts val="600"/>
              </a:spcAft>
            </a:pPr>
            <a:r>
              <a:rPr sz="1150" b="0">
                <a:solidFill>
                  <a:srgbClr val="334155"/>
                </a:solidFill>
                <a:latin typeface="Calibri"/>
              </a:rPr>
              <a:t>–  (≥30 obs) with a global fallback.</a:t>
            </a:r>
          </a:p>
          <a:p>
            <a:pPr>
              <a:spcAft>
                <a:spcPts val="600"/>
              </a:spcAft>
            </a:pPr>
            <a:r>
              <a:rPr sz="1350" b="0">
                <a:solidFill>
                  <a:srgbClr val="334155"/>
                </a:solidFill>
                <a:latin typeface="Calibri"/>
              </a:rPr>
              <a:t>•  All targets in log1p space.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841248"/>
          </a:xfrm>
          <a:prstGeom prst="rect">
            <a:avLst/>
          </a:prstGeom>
          <a:noFill/>
        </p:spPr>
        <p:txBody>
          <a:bodyPr wrap="square">
            <a:spAutoFit/>
          </a:bodyPr>
          <a:lstStyle/>
          <a:p>
            <a:r>
              <a:rPr sz="1200" b="1">
                <a:solidFill>
                  <a:srgbClr val="16A34A"/>
                </a:solidFill>
                <a:latin typeface="Calibri"/>
              </a:rPr>
              <a:t>REGRESSION
</a:t>
            </a:r>
            <a:r>
              <a:rPr sz="2600" b="1">
                <a:solidFill>
                  <a:srgbClr val="FFFFFF"/>
                </a:solidFill>
                <a:latin typeface="Calibri"/>
              </a:rPr>
              <a:t>Tuning the Regressors — Optimise the Metric Directly</a:t>
            </a:r>
          </a:p>
        </p:txBody>
      </p:sp>
      <p:sp>
        <p:nvSpPr>
          <p:cNvPr id="4" name="TextBox 3"/>
          <p:cNvSpPr txBox="1"/>
          <p:nvPr/>
        </p:nvSpPr>
        <p:spPr>
          <a:xfrm>
            <a:off x="548640" y="1371600"/>
            <a:ext cx="11064240" cy="5120640"/>
          </a:xfrm>
          <a:prstGeom prst="rect">
            <a:avLst/>
          </a:prstGeom>
          <a:noFill/>
        </p:spPr>
        <p:txBody>
          <a:bodyPr wrap="square">
            <a:spAutoFit/>
          </a:bodyPr>
          <a:lstStyle/>
          <a:p>
            <a:pPr>
              <a:spcAft>
                <a:spcPts val="1100"/>
              </a:spcAft>
            </a:pPr>
            <a:r>
              <a:rPr sz="1600" b="0">
                <a:solidFill>
                  <a:srgbClr val="334155"/>
                </a:solidFill>
                <a:latin typeface="Calibri"/>
              </a:rPr>
              <a:t>•  Optuna per target (25 trials, 3-fold CV, minimise log-RMSE) sets the hyper-parameters.</a:t>
            </a:r>
          </a:p>
          <a:p>
            <a:pPr>
              <a:spcAft>
                <a:spcPts val="1100"/>
              </a:spcAft>
            </a:pPr>
            <a:r>
              <a:rPr sz="1600" b="1">
                <a:solidFill>
                  <a:srgbClr val="0B3D2E"/>
                </a:solidFill>
                <a:latin typeface="Calibri"/>
              </a:rPr>
              <a:t>•  Then a 'boosted' recipe per target — chosen by what won on the honest holdout:</a:t>
            </a:r>
          </a:p>
          <a:p>
            <a:pPr lvl="1">
              <a:spcAft>
                <a:spcPts val="1100"/>
              </a:spcAft>
            </a:pPr>
            <a:r>
              <a:rPr sz="1400" b="0">
                <a:solidFill>
                  <a:srgbClr val="334155"/>
                </a:solidFill>
                <a:latin typeface="Calibri"/>
              </a:rPr>
              <a:t>–  L1 / MAE objective (XGB reg:absoluteerror, LGBM regression_l1) — optimises log-MAE, the metric we report.</a:t>
            </a:r>
          </a:p>
          <a:p>
            <a:pPr lvl="1">
              <a:spcAft>
                <a:spcPts val="1100"/>
              </a:spcAft>
            </a:pPr>
            <a:r>
              <a:rPr sz="1400" b="0">
                <a:solidFill>
                  <a:srgbClr val="334155"/>
                </a:solidFill>
                <a:latin typeface="Calibri"/>
              </a:rPr>
              <a:t>–  Winsorise the log-target at p99 for damage / uninsured — caps a few extreme events.</a:t>
            </a:r>
          </a:p>
          <a:p>
            <a:pPr lvl="1">
              <a:spcAft>
                <a:spcPts val="1100"/>
              </a:spcAft>
            </a:pPr>
            <a:r>
              <a:rPr sz="1400" b="0">
                <a:solidFill>
                  <a:srgbClr val="334155"/>
                </a:solidFill>
                <a:latin typeface="Calibri"/>
              </a:rPr>
              <a:t>–  Structure routing (per-type vs shared) per target.</a:t>
            </a:r>
          </a:p>
        </p:txBody>
      </p:sp>
      <p:graphicFrame>
        <p:nvGraphicFramePr>
          <p:cNvPr id="5" name="Table 4"/>
          <p:cNvGraphicFramePr>
            <a:graphicFrameLocks noGrp="1"/>
          </p:cNvGraphicFramePr>
          <p:nvPr/>
        </p:nvGraphicFramePr>
        <p:xfrm>
          <a:off x="548640" y="3977639"/>
          <a:ext cx="7498080" cy="1463040"/>
        </p:xfrm>
        <a:graphic>
          <a:graphicData uri="http://schemas.openxmlformats.org/drawingml/2006/table">
            <a:tbl>
              <a:tblPr firstRow="1" bandRow="1">
                <a:tableStyleId>{5C22544A-7EE6-4342-B048-85BDC9FD1C3A}</a:tableStyleId>
              </a:tblPr>
              <a:tblGrid>
                <a:gridCol w="2560320"/>
                <a:gridCol w="2011680"/>
                <a:gridCol w="1645920"/>
                <a:gridCol w="1280160"/>
              </a:tblGrid>
              <a:tr h="365760">
                <a:tc>
                  <a:txBody>
                    <a:bodyPr wrap="square"/>
                    <a:lstStyle/>
                    <a:p>
                      <a:r>
                        <a:rPr b="1" sz="1300">
                          <a:solidFill>
                            <a:srgbClr val="FFFFFF"/>
                          </a:solidFill>
                          <a:latin typeface="Calibri"/>
                        </a:rPr>
                        <a:t>Target</a:t>
                      </a:r>
                    </a:p>
                  </a:txBody>
                  <a:tcPr marL="64008" marR="64008" marT="18288" marB="18288" anchor="ctr">
                    <a:solidFill>
                      <a:srgbClr val="0B3D2E"/>
                    </a:solidFill>
                  </a:tcPr>
                </a:tc>
                <a:tc>
                  <a:txBody>
                    <a:bodyPr wrap="square"/>
                    <a:lstStyle/>
                    <a:p>
                      <a:r>
                        <a:rPr b="1" sz="1300">
                          <a:solidFill>
                            <a:srgbClr val="FFFFFF"/>
                          </a:solidFill>
                          <a:latin typeface="Calibri"/>
                        </a:rPr>
                        <a:t>Recipe</a:t>
                      </a:r>
                    </a:p>
                  </a:txBody>
                  <a:tcPr marL="64008" marR="64008" marT="18288" marB="18288" anchor="ctr">
                    <a:solidFill>
                      <a:srgbClr val="0B3D2E"/>
                    </a:solidFill>
                  </a:tcPr>
                </a:tc>
                <a:tc>
                  <a:txBody>
                    <a:bodyPr wrap="square"/>
                    <a:lstStyle/>
                    <a:p>
                      <a:r>
                        <a:rPr b="1" sz="1300">
                          <a:solidFill>
                            <a:srgbClr val="FFFFFF"/>
                          </a:solidFill>
                          <a:latin typeface="Calibri"/>
                        </a:rPr>
                        <a:t>Structure</a:t>
                      </a:r>
                    </a:p>
                  </a:txBody>
                  <a:tcPr marL="64008" marR="64008" marT="18288" marB="18288" anchor="ctr">
                    <a:solidFill>
                      <a:srgbClr val="0B3D2E"/>
                    </a:solidFill>
                  </a:tcPr>
                </a:tc>
                <a:tc>
                  <a:txBody>
                    <a:bodyPr wrap="square"/>
                    <a:lstStyle/>
                    <a:p>
                      <a:r>
                        <a:rPr b="1" sz="1300">
                          <a:solidFill>
                            <a:srgbClr val="FFFFFF"/>
                          </a:solidFill>
                          <a:latin typeface="Calibri"/>
                        </a:rPr>
                        <a:t>Winsor</a:t>
                      </a:r>
                    </a:p>
                  </a:txBody>
                  <a:tcPr marL="64008" marR="64008" marT="18288" marB="18288" anchor="ctr">
                    <a:solidFill>
                      <a:srgbClr val="0B3D2E"/>
                    </a:solidFill>
                  </a:tcPr>
                </a:tc>
              </a:tr>
              <a:tr h="365760">
                <a:tc>
                  <a:txBody>
                    <a:bodyPr wrap="square"/>
                    <a:lstStyle/>
                    <a:p>
                      <a:r>
                        <a:rPr sz="1300" b="1">
                          <a:solidFill>
                            <a:srgbClr val="0B3D2E"/>
                          </a:solidFill>
                          <a:latin typeface="Calibri"/>
                        </a:rPr>
                        <a:t>deaths</a:t>
                      </a:r>
                    </a:p>
                  </a:txBody>
                  <a:tcPr marL="64008" marR="64008" marT="18288" marB="18288" anchor="ctr">
                    <a:solidFill>
                      <a:srgbClr val="FFFFFF"/>
                    </a:solidFill>
                  </a:tcPr>
                </a:tc>
                <a:tc>
                  <a:txBody>
                    <a:bodyPr wrap="square"/>
                    <a:lstStyle/>
                    <a:p>
                      <a:r>
                        <a:rPr sz="1300">
                          <a:solidFill>
                            <a:srgbClr val="334155"/>
                          </a:solidFill>
                          <a:latin typeface="Calibri"/>
                        </a:rPr>
                        <a:t>XGBoost-MAE</a:t>
                      </a:r>
                    </a:p>
                  </a:txBody>
                  <a:tcPr marL="64008" marR="64008" marT="18288" marB="18288" anchor="ctr">
                    <a:solidFill>
                      <a:srgbClr val="FFFFFF"/>
                    </a:solidFill>
                  </a:tcPr>
                </a:tc>
                <a:tc>
                  <a:txBody>
                    <a:bodyPr wrap="square"/>
                    <a:lstStyle/>
                    <a:p>
                      <a:r>
                        <a:rPr sz="1300">
                          <a:solidFill>
                            <a:srgbClr val="334155"/>
                          </a:solidFill>
                          <a:latin typeface="Calibri"/>
                        </a:rPr>
                        <a:t>per-type</a:t>
                      </a:r>
                    </a:p>
                  </a:txBody>
                  <a:tcPr marL="64008" marR="64008" marT="18288" marB="18288" anchor="ctr">
                    <a:solidFill>
                      <a:srgbClr val="FFFFFF"/>
                    </a:solidFill>
                  </a:tcPr>
                </a:tc>
                <a:tc>
                  <a:txBody>
                    <a:bodyPr wrap="square"/>
                    <a:lstStyle/>
                    <a:p>
                      <a:r>
                        <a:rPr sz="1300">
                          <a:solidFill>
                            <a:srgbClr val="334155"/>
                          </a:solidFill>
                          <a:latin typeface="Calibri"/>
                        </a:rPr>
                        <a:t>no</a:t>
                      </a:r>
                    </a:p>
                  </a:txBody>
                  <a:tcPr marL="64008" marR="64008" marT="18288" marB="18288" anchor="ctr">
                    <a:solidFill>
                      <a:srgbClr val="FFFFFF"/>
                    </a:solidFill>
                  </a:tcPr>
                </a:tc>
              </a:tr>
              <a:tr h="365760">
                <a:tc>
                  <a:txBody>
                    <a:bodyPr wrap="square"/>
                    <a:lstStyle/>
                    <a:p>
                      <a:r>
                        <a:rPr sz="1300" b="1">
                          <a:solidFill>
                            <a:srgbClr val="0B3D2E"/>
                          </a:solidFill>
                          <a:latin typeface="Calibri"/>
                        </a:rPr>
                        <a:t>injuries / affected</a:t>
                      </a:r>
                    </a:p>
                  </a:txBody>
                  <a:tcPr marL="64008" marR="64008" marT="18288" marB="18288" anchor="ctr">
                    <a:solidFill>
                      <a:srgbClr val="F1F5F9"/>
                    </a:solidFill>
                  </a:tcPr>
                </a:tc>
                <a:tc>
                  <a:txBody>
                    <a:bodyPr wrap="square"/>
                    <a:lstStyle/>
                    <a:p>
                      <a:r>
                        <a:rPr sz="1300">
                          <a:solidFill>
                            <a:srgbClr val="334155"/>
                          </a:solidFill>
                          <a:latin typeface="Calibri"/>
                        </a:rPr>
                        <a:t>RandomForest</a:t>
                      </a:r>
                    </a:p>
                  </a:txBody>
                  <a:tcPr marL="64008" marR="64008" marT="18288" marB="18288" anchor="ctr">
                    <a:solidFill>
                      <a:srgbClr val="F1F5F9"/>
                    </a:solidFill>
                  </a:tcPr>
                </a:tc>
                <a:tc>
                  <a:txBody>
                    <a:bodyPr wrap="square"/>
                    <a:lstStyle/>
                    <a:p>
                      <a:r>
                        <a:rPr sz="1300">
                          <a:solidFill>
                            <a:srgbClr val="334155"/>
                          </a:solidFill>
                          <a:latin typeface="Calibri"/>
                        </a:rPr>
                        <a:t>per-type</a:t>
                      </a:r>
                    </a:p>
                  </a:txBody>
                  <a:tcPr marL="64008" marR="64008" marT="18288" marB="18288" anchor="ctr">
                    <a:solidFill>
                      <a:srgbClr val="F1F5F9"/>
                    </a:solidFill>
                  </a:tcPr>
                </a:tc>
                <a:tc>
                  <a:txBody>
                    <a:bodyPr wrap="square"/>
                    <a:lstStyle/>
                    <a:p>
                      <a:r>
                        <a:rPr sz="1300">
                          <a:solidFill>
                            <a:srgbClr val="334155"/>
                          </a:solidFill>
                          <a:latin typeface="Calibri"/>
                        </a:rPr>
                        <a:t>no</a:t>
                      </a:r>
                    </a:p>
                  </a:txBody>
                  <a:tcPr marL="64008" marR="64008" marT="18288" marB="18288" anchor="ctr">
                    <a:solidFill>
                      <a:srgbClr val="F1F5F9"/>
                    </a:solidFill>
                  </a:tcPr>
                </a:tc>
              </a:tr>
              <a:tr h="365760">
                <a:tc>
                  <a:txBody>
                    <a:bodyPr wrap="square"/>
                    <a:lstStyle/>
                    <a:p>
                      <a:r>
                        <a:rPr sz="1300" b="1">
                          <a:solidFill>
                            <a:srgbClr val="0B3D2E"/>
                          </a:solidFill>
                          <a:latin typeface="Calibri"/>
                        </a:rPr>
                        <a:t>damage / uninsured</a:t>
                      </a:r>
                    </a:p>
                  </a:txBody>
                  <a:tcPr marL="64008" marR="64008" marT="18288" marB="18288" anchor="ctr">
                    <a:solidFill>
                      <a:srgbClr val="FFFFFF"/>
                    </a:solidFill>
                  </a:tcPr>
                </a:tc>
                <a:tc>
                  <a:txBody>
                    <a:bodyPr wrap="square"/>
                    <a:lstStyle/>
                    <a:p>
                      <a:r>
                        <a:rPr sz="1300">
                          <a:solidFill>
                            <a:srgbClr val="334155"/>
                          </a:solidFill>
                          <a:latin typeface="Calibri"/>
                        </a:rPr>
                        <a:t>LightGBM-L1</a:t>
                      </a:r>
                    </a:p>
                  </a:txBody>
                  <a:tcPr marL="64008" marR="64008" marT="18288" marB="18288" anchor="ctr">
                    <a:solidFill>
                      <a:srgbClr val="FFFFFF"/>
                    </a:solidFill>
                  </a:tcPr>
                </a:tc>
                <a:tc>
                  <a:txBody>
                    <a:bodyPr wrap="square"/>
                    <a:lstStyle/>
                    <a:p>
                      <a:r>
                        <a:rPr sz="1300">
                          <a:solidFill>
                            <a:srgbClr val="334155"/>
                          </a:solidFill>
                          <a:latin typeface="Calibri"/>
                        </a:rPr>
                        <a:t>shared</a:t>
                      </a:r>
                    </a:p>
                  </a:txBody>
                  <a:tcPr marL="64008" marR="64008" marT="18288" marB="18288" anchor="ctr">
                    <a:solidFill>
                      <a:srgbClr val="FFFFFF"/>
                    </a:solidFill>
                  </a:tcPr>
                </a:tc>
                <a:tc>
                  <a:txBody>
                    <a:bodyPr wrap="square"/>
                    <a:lstStyle/>
                    <a:p>
                      <a:r>
                        <a:rPr sz="1300">
                          <a:solidFill>
                            <a:srgbClr val="334155"/>
                          </a:solidFill>
                          <a:latin typeface="Calibri"/>
                        </a:rPr>
                        <a:t>p99</a:t>
                      </a:r>
                    </a:p>
                  </a:txBody>
                  <a:tcPr marL="64008" marR="64008" marT="18288" marB="18288" anchor="ctr">
                    <a:solidFill>
                      <a:srgbClr val="FFFFFF"/>
                    </a:solidFill>
                  </a:tcPr>
                </a:tc>
              </a:tr>
            </a:tbl>
          </a:graphicData>
        </a:graphic>
      </p:graphicFrame>
      <p:sp>
        <p:nvSpPr>
          <p:cNvPr id="6" name="Rectangle 5"/>
          <p:cNvSpPr/>
          <p:nvPr/>
        </p:nvSpPr>
        <p:spPr>
          <a:xfrm>
            <a:off x="548640" y="5897880"/>
            <a:ext cx="11064240" cy="6858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989320"/>
            <a:ext cx="10698480" cy="539496"/>
          </a:xfrm>
          <a:prstGeom prst="rect">
            <a:avLst/>
          </a:prstGeom>
          <a:noFill/>
        </p:spPr>
        <p:txBody>
          <a:bodyPr wrap="square">
            <a:spAutoFit/>
          </a:bodyPr>
          <a:lstStyle/>
          <a:p>
            <a:r>
              <a:rPr sz="1500" b="1">
                <a:solidFill>
                  <a:srgbClr val="16A34A"/>
                </a:solidFill>
                <a:latin typeface="Calibri"/>
              </a:rPr>
              <a:t>Honest result:  </a:t>
            </a:r>
            <a:r>
              <a:rPr sz="1500">
                <a:solidFill>
                  <a:srgbClr val="334155"/>
                </a:solidFill>
                <a:latin typeface="Calibri"/>
              </a:rPr>
              <a:t>the boost helps damage (5.25× → 5.02×) and deaths (2.78× → 2.71×); injuries/affected don't move — they're at their data-coverage floor.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841248"/>
          </a:xfrm>
          <a:prstGeom prst="rect">
            <a:avLst/>
          </a:prstGeom>
          <a:noFill/>
        </p:spPr>
        <p:txBody>
          <a:bodyPr wrap="square">
            <a:spAutoFit/>
          </a:bodyPr>
          <a:lstStyle/>
          <a:p>
            <a:r>
              <a:rPr sz="1200" b="1">
                <a:solidFill>
                  <a:srgbClr val="16A34A"/>
                </a:solidFill>
                <a:latin typeface="Calibri"/>
              </a:rPr>
              <a:t>REGRESSION
</a:t>
            </a:r>
            <a:r>
              <a:rPr sz="2600" b="1">
                <a:solidFill>
                  <a:srgbClr val="FFFFFF"/>
                </a:solidFill>
                <a:latin typeface="Calibri"/>
              </a:rPr>
              <a:t>Impact Regressors — Final Scores</a:t>
            </a:r>
          </a:p>
        </p:txBody>
      </p:sp>
      <p:pic>
        <p:nvPicPr>
          <p:cNvPr id="4" name="Picture 3" descr="05_reg_factors.png"/>
          <p:cNvPicPr>
            <a:picLocks noChangeAspect="1"/>
          </p:cNvPicPr>
          <p:nvPr/>
        </p:nvPicPr>
        <p:blipFill>
          <a:blip r:embed="rId2"/>
          <a:stretch>
            <a:fillRect/>
          </a:stretch>
        </p:blipFill>
        <p:spPr>
          <a:xfrm>
            <a:off x="365760" y="1280160"/>
            <a:ext cx="6126480" cy="3139464"/>
          </a:xfrm>
          <a:prstGeom prst="rect">
            <a:avLst/>
          </a:prstGeom>
        </p:spPr>
      </p:pic>
      <p:graphicFrame>
        <p:nvGraphicFramePr>
          <p:cNvPr id="5" name="Table 4"/>
          <p:cNvGraphicFramePr>
            <a:graphicFrameLocks noGrp="1"/>
          </p:cNvGraphicFramePr>
          <p:nvPr/>
        </p:nvGraphicFramePr>
        <p:xfrm>
          <a:off x="6720840" y="1417320"/>
          <a:ext cx="5486400" cy="2194560"/>
        </p:xfrm>
        <a:graphic>
          <a:graphicData uri="http://schemas.openxmlformats.org/drawingml/2006/table">
            <a:tbl>
              <a:tblPr firstRow="1" bandRow="1">
                <a:tableStyleId>{5C22544A-7EE6-4342-B048-85BDC9FD1C3A}</a:tableStyleId>
              </a:tblPr>
              <a:tblGrid>
                <a:gridCol w="2011680"/>
                <a:gridCol w="1097280"/>
                <a:gridCol w="1188720"/>
                <a:gridCol w="1188720"/>
              </a:tblGrid>
              <a:tr h="365760">
                <a:tc>
                  <a:txBody>
                    <a:bodyPr wrap="square"/>
                    <a:lstStyle/>
                    <a:p>
                      <a:r>
                        <a:rPr b="1" sz="1350">
                          <a:solidFill>
                            <a:srgbClr val="FFFFFF"/>
                          </a:solidFill>
                          <a:latin typeface="Calibri"/>
                        </a:rPr>
                        <a:t>Target</a:t>
                      </a:r>
                    </a:p>
                  </a:txBody>
                  <a:tcPr marL="64008" marR="64008" marT="18288" marB="18288" anchor="ctr">
                    <a:solidFill>
                      <a:srgbClr val="0B3D2E"/>
                    </a:solidFill>
                  </a:tcPr>
                </a:tc>
                <a:tc>
                  <a:txBody>
                    <a:bodyPr wrap="square"/>
                    <a:lstStyle/>
                    <a:p>
                      <a:r>
                        <a:rPr b="1" sz="1350">
                          <a:solidFill>
                            <a:srgbClr val="FFFFFF"/>
                          </a:solidFill>
                          <a:latin typeface="Calibri"/>
                        </a:rPr>
                        <a:t>n</a:t>
                      </a:r>
                    </a:p>
                  </a:txBody>
                  <a:tcPr marL="64008" marR="64008" marT="18288" marB="18288" anchor="ctr">
                    <a:solidFill>
                      <a:srgbClr val="0B3D2E"/>
                    </a:solidFill>
                  </a:tcPr>
                </a:tc>
                <a:tc>
                  <a:txBody>
                    <a:bodyPr wrap="square"/>
                    <a:lstStyle/>
                    <a:p>
                      <a:r>
                        <a:rPr b="1" sz="1350">
                          <a:solidFill>
                            <a:srgbClr val="FFFFFF"/>
                          </a:solidFill>
                          <a:latin typeface="Calibri"/>
                        </a:rPr>
                        <a:t>R²_log</a:t>
                      </a:r>
                    </a:p>
                  </a:txBody>
                  <a:tcPr marL="64008" marR="64008" marT="18288" marB="18288" anchor="ctr">
                    <a:solidFill>
                      <a:srgbClr val="0B3D2E"/>
                    </a:solidFill>
                  </a:tcPr>
                </a:tc>
                <a:tc>
                  <a:txBody>
                    <a:bodyPr wrap="square"/>
                    <a:lstStyle/>
                    <a:p>
                      <a:r>
                        <a:rPr b="1" sz="1350">
                          <a:solidFill>
                            <a:srgbClr val="FFFFFF"/>
                          </a:solidFill>
                          <a:latin typeface="Calibri"/>
                        </a:rPr>
                        <a:t>×-error</a:t>
                      </a:r>
                    </a:p>
                  </a:txBody>
                  <a:tcPr marL="64008" marR="64008" marT="18288" marB="18288" anchor="ctr">
                    <a:solidFill>
                      <a:srgbClr val="0B3D2E"/>
                    </a:solidFill>
                  </a:tcPr>
                </a:tc>
              </a:tr>
              <a:tr h="365760">
                <a:tc>
                  <a:txBody>
                    <a:bodyPr wrap="square"/>
                    <a:lstStyle/>
                    <a:p>
                      <a:r>
                        <a:rPr sz="1350" b="1">
                          <a:solidFill>
                            <a:srgbClr val="0B3D2E"/>
                          </a:solidFill>
                          <a:latin typeface="Calibri"/>
                        </a:rPr>
                        <a:t>deaths</a:t>
                      </a:r>
                    </a:p>
                  </a:txBody>
                  <a:tcPr marL="64008" marR="64008" marT="18288" marB="18288" anchor="ctr">
                    <a:solidFill>
                      <a:srgbClr val="FFFFFF"/>
                    </a:solidFill>
                  </a:tcPr>
                </a:tc>
                <a:tc>
                  <a:txBody>
                    <a:bodyPr wrap="square"/>
                    <a:lstStyle/>
                    <a:p>
                      <a:r>
                        <a:rPr sz="1350">
                          <a:solidFill>
                            <a:srgbClr val="334155"/>
                          </a:solidFill>
                          <a:latin typeface="Calibri"/>
                        </a:rPr>
                        <a:t>2,015</a:t>
                      </a:r>
                    </a:p>
                  </a:txBody>
                  <a:tcPr marL="64008" marR="64008" marT="18288" marB="18288" anchor="ctr">
                    <a:solidFill>
                      <a:srgbClr val="FFFFFF"/>
                    </a:solidFill>
                  </a:tcPr>
                </a:tc>
                <a:tc>
                  <a:txBody>
                    <a:bodyPr wrap="square"/>
                    <a:lstStyle/>
                    <a:p>
                      <a:r>
                        <a:rPr sz="1350">
                          <a:solidFill>
                            <a:srgbClr val="334155"/>
                          </a:solidFill>
                          <a:latin typeface="Calibri"/>
                        </a:rPr>
                        <a:t>+0.43</a:t>
                      </a:r>
                    </a:p>
                  </a:txBody>
                  <a:tcPr marL="64008" marR="64008" marT="18288" marB="18288" anchor="ctr">
                    <a:solidFill>
                      <a:srgbClr val="FFFFFF"/>
                    </a:solidFill>
                  </a:tcPr>
                </a:tc>
                <a:tc>
                  <a:txBody>
                    <a:bodyPr wrap="square"/>
                    <a:lstStyle/>
                    <a:p>
                      <a:r>
                        <a:rPr sz="1350">
                          <a:solidFill>
                            <a:srgbClr val="334155"/>
                          </a:solidFill>
                          <a:latin typeface="Calibri"/>
                        </a:rPr>
                        <a:t>2.71×</a:t>
                      </a:r>
                    </a:p>
                  </a:txBody>
                  <a:tcPr marL="64008" marR="64008" marT="18288" marB="18288" anchor="ctr">
                    <a:solidFill>
                      <a:srgbClr val="FFFFFF"/>
                    </a:solidFill>
                  </a:tcPr>
                </a:tc>
              </a:tr>
              <a:tr h="365760">
                <a:tc>
                  <a:txBody>
                    <a:bodyPr wrap="square"/>
                    <a:lstStyle/>
                    <a:p>
                      <a:r>
                        <a:rPr sz="1350" b="1">
                          <a:solidFill>
                            <a:srgbClr val="0B3D2E"/>
                          </a:solidFill>
                          <a:latin typeface="Calibri"/>
                        </a:rPr>
                        <a:t>injuries</a:t>
                      </a:r>
                    </a:p>
                  </a:txBody>
                  <a:tcPr marL="64008" marR="64008" marT="18288" marB="18288" anchor="ctr">
                    <a:solidFill>
                      <a:srgbClr val="F1F5F9"/>
                    </a:solidFill>
                  </a:tcPr>
                </a:tc>
                <a:tc>
                  <a:txBody>
                    <a:bodyPr wrap="square"/>
                    <a:lstStyle/>
                    <a:p>
                      <a:r>
                        <a:rPr sz="1350">
                          <a:solidFill>
                            <a:srgbClr val="334155"/>
                          </a:solidFill>
                          <a:latin typeface="Calibri"/>
                        </a:rPr>
                        <a:t>724</a:t>
                      </a:r>
                    </a:p>
                  </a:txBody>
                  <a:tcPr marL="64008" marR="64008" marT="18288" marB="18288" anchor="ctr">
                    <a:solidFill>
                      <a:srgbClr val="F1F5F9"/>
                    </a:solidFill>
                  </a:tcPr>
                </a:tc>
                <a:tc>
                  <a:txBody>
                    <a:bodyPr wrap="square"/>
                    <a:lstStyle/>
                    <a:p>
                      <a:r>
                        <a:rPr sz="1350">
                          <a:solidFill>
                            <a:srgbClr val="334155"/>
                          </a:solidFill>
                          <a:latin typeface="Calibri"/>
                        </a:rPr>
                        <a:t>+0.23</a:t>
                      </a:r>
                    </a:p>
                  </a:txBody>
                  <a:tcPr marL="64008" marR="64008" marT="18288" marB="18288" anchor="ctr">
                    <a:solidFill>
                      <a:srgbClr val="F1F5F9"/>
                    </a:solidFill>
                  </a:tcPr>
                </a:tc>
                <a:tc>
                  <a:txBody>
                    <a:bodyPr wrap="square"/>
                    <a:lstStyle/>
                    <a:p>
                      <a:r>
                        <a:rPr sz="1350">
                          <a:solidFill>
                            <a:srgbClr val="334155"/>
                          </a:solidFill>
                          <a:latin typeface="Calibri"/>
                        </a:rPr>
                        <a:t>3.89×</a:t>
                      </a:r>
                    </a:p>
                  </a:txBody>
                  <a:tcPr marL="64008" marR="64008" marT="18288" marB="18288" anchor="ctr">
                    <a:solidFill>
                      <a:srgbClr val="F1F5F9"/>
                    </a:solidFill>
                  </a:tcPr>
                </a:tc>
              </a:tr>
              <a:tr h="365760">
                <a:tc>
                  <a:txBody>
                    <a:bodyPr wrap="square"/>
                    <a:lstStyle/>
                    <a:p>
                      <a:r>
                        <a:rPr sz="1350" b="1">
                          <a:solidFill>
                            <a:srgbClr val="0B3D2E"/>
                          </a:solidFill>
                          <a:latin typeface="Calibri"/>
                        </a:rPr>
                        <a:t>affected</a:t>
                      </a:r>
                    </a:p>
                  </a:txBody>
                  <a:tcPr marL="64008" marR="64008" marT="18288" marB="18288" anchor="ctr">
                    <a:solidFill>
                      <a:srgbClr val="FFFFFF"/>
                    </a:solidFill>
                  </a:tcPr>
                </a:tc>
                <a:tc>
                  <a:txBody>
                    <a:bodyPr wrap="square"/>
                    <a:lstStyle/>
                    <a:p>
                      <a:r>
                        <a:rPr sz="1350">
                          <a:solidFill>
                            <a:srgbClr val="334155"/>
                          </a:solidFill>
                          <a:latin typeface="Calibri"/>
                        </a:rPr>
                        <a:t>2,052</a:t>
                      </a:r>
                    </a:p>
                  </a:txBody>
                  <a:tcPr marL="64008" marR="64008" marT="18288" marB="18288" anchor="ctr">
                    <a:solidFill>
                      <a:srgbClr val="FFFFFF"/>
                    </a:solidFill>
                  </a:tcPr>
                </a:tc>
                <a:tc>
                  <a:txBody>
                    <a:bodyPr wrap="square"/>
                    <a:lstStyle/>
                    <a:p>
                      <a:r>
                        <a:rPr sz="1350">
                          <a:solidFill>
                            <a:srgbClr val="334155"/>
                          </a:solidFill>
                          <a:latin typeface="Calibri"/>
                        </a:rPr>
                        <a:t>+0.42</a:t>
                      </a:r>
                    </a:p>
                  </a:txBody>
                  <a:tcPr marL="64008" marR="64008" marT="18288" marB="18288" anchor="ctr">
                    <a:solidFill>
                      <a:srgbClr val="FFFFFF"/>
                    </a:solidFill>
                  </a:tcPr>
                </a:tc>
                <a:tc>
                  <a:txBody>
                    <a:bodyPr wrap="square"/>
                    <a:lstStyle/>
                    <a:p>
                      <a:r>
                        <a:rPr sz="1350">
                          <a:solidFill>
                            <a:srgbClr val="334155"/>
                          </a:solidFill>
                          <a:latin typeface="Calibri"/>
                        </a:rPr>
                        <a:t>6.57×</a:t>
                      </a:r>
                    </a:p>
                  </a:txBody>
                  <a:tcPr marL="64008" marR="64008" marT="18288" marB="18288" anchor="ctr">
                    <a:solidFill>
                      <a:srgbClr val="FFFFFF"/>
                    </a:solidFill>
                  </a:tcPr>
                </a:tc>
              </a:tr>
              <a:tr h="365760">
                <a:tc>
                  <a:txBody>
                    <a:bodyPr wrap="square"/>
                    <a:lstStyle/>
                    <a:p>
                      <a:r>
                        <a:rPr sz="1350" b="1">
                          <a:solidFill>
                            <a:srgbClr val="0B3D2E"/>
                          </a:solidFill>
                          <a:latin typeface="Calibri"/>
                        </a:rPr>
                        <a:t>damage</a:t>
                      </a:r>
                    </a:p>
                  </a:txBody>
                  <a:tcPr marL="64008" marR="64008" marT="18288" marB="18288" anchor="ctr">
                    <a:solidFill>
                      <a:srgbClr val="F1F5F9"/>
                    </a:solidFill>
                  </a:tcPr>
                </a:tc>
                <a:tc>
                  <a:txBody>
                    <a:bodyPr wrap="square"/>
                    <a:lstStyle/>
                    <a:p>
                      <a:r>
                        <a:rPr sz="1350">
                          <a:solidFill>
                            <a:srgbClr val="334155"/>
                          </a:solidFill>
                          <a:latin typeface="Calibri"/>
                        </a:rPr>
                        <a:t>1,057</a:t>
                      </a:r>
                    </a:p>
                  </a:txBody>
                  <a:tcPr marL="64008" marR="64008" marT="18288" marB="18288" anchor="ctr">
                    <a:solidFill>
                      <a:srgbClr val="F1F5F9"/>
                    </a:solidFill>
                  </a:tcPr>
                </a:tc>
                <a:tc>
                  <a:txBody>
                    <a:bodyPr wrap="square"/>
                    <a:lstStyle/>
                    <a:p>
                      <a:r>
                        <a:rPr sz="1350">
                          <a:solidFill>
                            <a:srgbClr val="334155"/>
                          </a:solidFill>
                          <a:latin typeface="Calibri"/>
                        </a:rPr>
                        <a:t>+0.37</a:t>
                      </a:r>
                    </a:p>
                  </a:txBody>
                  <a:tcPr marL="64008" marR="64008" marT="18288" marB="18288" anchor="ctr">
                    <a:solidFill>
                      <a:srgbClr val="F1F5F9"/>
                    </a:solidFill>
                  </a:tcPr>
                </a:tc>
                <a:tc>
                  <a:txBody>
                    <a:bodyPr wrap="square"/>
                    <a:lstStyle/>
                    <a:p>
                      <a:r>
                        <a:rPr sz="1350">
                          <a:solidFill>
                            <a:srgbClr val="334155"/>
                          </a:solidFill>
                          <a:latin typeface="Calibri"/>
                        </a:rPr>
                        <a:t>5.02×</a:t>
                      </a:r>
                    </a:p>
                  </a:txBody>
                  <a:tcPr marL="64008" marR="64008" marT="18288" marB="18288" anchor="ctr">
                    <a:solidFill>
                      <a:srgbClr val="F1F5F9"/>
                    </a:solidFill>
                  </a:tcPr>
                </a:tc>
              </a:tr>
              <a:tr h="365760">
                <a:tc>
                  <a:txBody>
                    <a:bodyPr wrap="square"/>
                    <a:lstStyle/>
                    <a:p>
                      <a:r>
                        <a:rPr sz="1350" b="1">
                          <a:solidFill>
                            <a:srgbClr val="0B3D2E"/>
                          </a:solidFill>
                          <a:latin typeface="Calibri"/>
                        </a:rPr>
                        <a:t>uninsured</a:t>
                      </a:r>
                    </a:p>
                  </a:txBody>
                  <a:tcPr marL="64008" marR="64008" marT="18288" marB="18288" anchor="ctr">
                    <a:solidFill>
                      <a:srgbClr val="FFFFFF"/>
                    </a:solidFill>
                  </a:tcPr>
                </a:tc>
                <a:tc>
                  <a:txBody>
                    <a:bodyPr wrap="square"/>
                    <a:lstStyle/>
                    <a:p>
                      <a:r>
                        <a:rPr sz="1350">
                          <a:solidFill>
                            <a:srgbClr val="334155"/>
                          </a:solidFill>
                          <a:latin typeface="Calibri"/>
                        </a:rPr>
                        <a:t>1,057</a:t>
                      </a:r>
                    </a:p>
                  </a:txBody>
                  <a:tcPr marL="64008" marR="64008" marT="18288" marB="18288" anchor="ctr">
                    <a:solidFill>
                      <a:srgbClr val="FFFFFF"/>
                    </a:solidFill>
                  </a:tcPr>
                </a:tc>
                <a:tc>
                  <a:txBody>
                    <a:bodyPr wrap="square"/>
                    <a:lstStyle/>
                    <a:p>
                      <a:r>
                        <a:rPr sz="1350">
                          <a:solidFill>
                            <a:srgbClr val="334155"/>
                          </a:solidFill>
                          <a:latin typeface="Calibri"/>
                        </a:rPr>
                        <a:t>+0.37</a:t>
                      </a:r>
                    </a:p>
                  </a:txBody>
                  <a:tcPr marL="64008" marR="64008" marT="18288" marB="18288" anchor="ctr">
                    <a:solidFill>
                      <a:srgbClr val="FFFFFF"/>
                    </a:solidFill>
                  </a:tcPr>
                </a:tc>
                <a:tc>
                  <a:txBody>
                    <a:bodyPr wrap="square"/>
                    <a:lstStyle/>
                    <a:p>
                      <a:r>
                        <a:rPr sz="1350">
                          <a:solidFill>
                            <a:srgbClr val="334155"/>
                          </a:solidFill>
                          <a:latin typeface="Calibri"/>
                        </a:rPr>
                        <a:t>5.08×</a:t>
                      </a:r>
                    </a:p>
                  </a:txBody>
                  <a:tcPr marL="64008" marR="64008" marT="18288" marB="18288" anchor="ctr">
                    <a:solidFill>
                      <a:srgbClr val="FFFFFF"/>
                    </a:solidFill>
                  </a:tcPr>
                </a:tc>
              </a:tr>
            </a:tbl>
          </a:graphicData>
        </a:graphic>
      </p:graphicFrame>
      <p:sp>
        <p:nvSpPr>
          <p:cNvPr id="6" name="Rectangle 5"/>
          <p:cNvSpPr/>
          <p:nvPr/>
        </p:nvSpPr>
        <p:spPr>
          <a:xfrm>
            <a:off x="548640" y="5943600"/>
            <a:ext cx="11064240" cy="6400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035040"/>
            <a:ext cx="10698480" cy="493775"/>
          </a:xfrm>
          <a:prstGeom prst="rect">
            <a:avLst/>
          </a:prstGeom>
          <a:noFill/>
        </p:spPr>
        <p:txBody>
          <a:bodyPr wrap="square">
            <a:spAutoFit/>
          </a:bodyPr>
          <a:lstStyle/>
          <a:p>
            <a:r>
              <a:rPr sz="1500" b="1">
                <a:solidFill>
                  <a:srgbClr val="16A34A"/>
                </a:solidFill>
                <a:latin typeface="Calibri"/>
              </a:rPr>
              <a:t>Read:  </a:t>
            </a:r>
            <a:r>
              <a:rPr sz="1500">
                <a:solidFill>
                  <a:srgbClr val="334155"/>
                </a:solidFill>
                <a:latin typeface="Calibri"/>
              </a:rPr>
              <a:t>deaths within ~2.7× is genuinely useful for triage; affected (6.6×) is the hardest — its magnitude spans 6 orders and depends on exposure we don't have.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841248"/>
          </a:xfrm>
          <a:prstGeom prst="rect">
            <a:avLst/>
          </a:prstGeom>
          <a:noFill/>
        </p:spPr>
        <p:txBody>
          <a:bodyPr wrap="square">
            <a:spAutoFit/>
          </a:bodyPr>
          <a:lstStyle/>
          <a:p>
            <a:r>
              <a:rPr sz="1200" b="1">
                <a:solidFill>
                  <a:srgbClr val="FECACA"/>
                </a:solidFill>
                <a:latin typeface="Calibri"/>
              </a:rPr>
              <a:t>LIMIT
</a:t>
            </a:r>
            <a:r>
              <a:rPr sz="2600" b="1">
                <a:solidFill>
                  <a:srgbClr val="FFFFFF"/>
                </a:solidFill>
                <a:latin typeface="Calibri"/>
              </a:rPr>
              <a:t>Why Regression Can't Go Further — the Signal Ceiling</a:t>
            </a:r>
          </a:p>
        </p:txBody>
      </p:sp>
      <p:pic>
        <p:nvPicPr>
          <p:cNvPr id="4" name="Picture 3" descr="06_reg_r2.png"/>
          <p:cNvPicPr>
            <a:picLocks noChangeAspect="1"/>
          </p:cNvPicPr>
          <p:nvPr/>
        </p:nvPicPr>
        <p:blipFill>
          <a:blip r:embed="rId2"/>
          <a:stretch>
            <a:fillRect/>
          </a:stretch>
        </p:blipFill>
        <p:spPr>
          <a:xfrm>
            <a:off x="411480" y="1280160"/>
            <a:ext cx="6675120" cy="3548524"/>
          </a:xfrm>
          <a:prstGeom prst="rect">
            <a:avLst/>
          </a:prstGeom>
        </p:spPr>
      </p:pic>
      <p:sp>
        <p:nvSpPr>
          <p:cNvPr id="5" name="TextBox 4"/>
          <p:cNvSpPr txBox="1"/>
          <p:nvPr/>
        </p:nvSpPr>
        <p:spPr>
          <a:xfrm>
            <a:off x="7315200" y="1371600"/>
            <a:ext cx="4663440" cy="5120640"/>
          </a:xfrm>
          <a:prstGeom prst="rect">
            <a:avLst/>
          </a:prstGeom>
          <a:noFill/>
        </p:spPr>
        <p:txBody>
          <a:bodyPr wrap="square">
            <a:spAutoFit/>
          </a:bodyPr>
          <a:lstStyle/>
          <a:p>
            <a:pPr>
              <a:spcAft>
                <a:spcPts val="600"/>
              </a:spcAft>
            </a:pPr>
            <a:r>
              <a:rPr sz="1350" b="1">
                <a:solidFill>
                  <a:srgbClr val="DC2626"/>
                </a:solidFill>
                <a:latin typeface="Calibri"/>
              </a:rPr>
              <a:t>•  Raw-unit R² ≈ 0 for injuries,</a:t>
            </a:r>
          </a:p>
          <a:p>
            <a:pPr lvl="1">
              <a:spcAft>
                <a:spcPts val="600"/>
              </a:spcAft>
            </a:pPr>
            <a:r>
              <a:rPr sz="1150" b="0">
                <a:solidFill>
                  <a:srgbClr val="334155"/>
                </a:solidFill>
                <a:latin typeface="Calibri"/>
              </a:rPr>
              <a:t>–  affected, damage (0.00–0.05).</a:t>
            </a:r>
          </a:p>
          <a:p>
            <a:pPr>
              <a:spcAft>
                <a:spcPts val="600"/>
              </a:spcAft>
            </a:pPr>
            <a:r>
              <a:rPr sz="1350" b="1">
                <a:solidFill>
                  <a:srgbClr val="0B3D2E"/>
                </a:solidFill>
                <a:latin typeface="Calibri"/>
              </a:rPr>
              <a:t>•  The features do NOT determine the</a:t>
            </a:r>
          </a:p>
          <a:p>
            <a:pPr lvl="1">
              <a:spcAft>
                <a:spcPts val="600"/>
              </a:spcAft>
            </a:pPr>
            <a:r>
              <a:rPr sz="1150" b="0">
                <a:solidFill>
                  <a:srgbClr val="334155"/>
                </a:solidFill>
                <a:latin typeface="Calibri"/>
              </a:rPr>
              <a:t>–  magnitude of a disaster's impact.</a:t>
            </a:r>
          </a:p>
          <a:p>
            <a:pPr>
              <a:spcAft>
                <a:spcPts val="600"/>
              </a:spcAft>
            </a:pPr>
            <a:r>
              <a:rPr sz="1350" b="1">
                <a:solidFill>
                  <a:srgbClr val="F59E0B"/>
                </a:solidFill>
                <a:latin typeface="Calibri"/>
              </a:rPr>
              <a:t>•  Impact is driven by EXPOSURE —</a:t>
            </a:r>
          </a:p>
          <a:p>
            <a:pPr lvl="1">
              <a:spcAft>
                <a:spcPts val="600"/>
              </a:spcAft>
            </a:pPr>
            <a:r>
              <a:rPr sz="1150" b="0">
                <a:solidFill>
                  <a:srgbClr val="334155"/>
                </a:solidFill>
                <a:latin typeface="Calibri"/>
              </a:rPr>
              <a:t>–  population, GDP, building codes,</a:t>
            </a:r>
          </a:p>
          <a:p>
            <a:pPr lvl="1">
              <a:spcAft>
                <a:spcPts val="600"/>
              </a:spcAft>
            </a:pPr>
            <a:r>
              <a:rPr sz="1150" b="0">
                <a:solidFill>
                  <a:srgbClr val="334155"/>
                </a:solidFill>
                <a:latin typeface="Calibri"/>
              </a:rPr>
              <a:t>–  warning systems — none in the data.</a:t>
            </a:r>
          </a:p>
          <a:p>
            <a:pPr>
              <a:spcAft>
                <a:spcPts val="600"/>
              </a:spcAft>
            </a:pPr>
            <a:r>
              <a:rPr sz="1350" b="1">
                <a:solidFill>
                  <a:srgbClr val="16A34A"/>
                </a:solidFill>
                <a:latin typeface="Calibri"/>
              </a:rPr>
              <a:t>•  Log-space R² is positive because</a:t>
            </a:r>
          </a:p>
          <a:p>
            <a:pPr lvl="1">
              <a:spcAft>
                <a:spcPts val="600"/>
              </a:spcAft>
            </a:pPr>
            <a:r>
              <a:rPr sz="1150" b="0">
                <a:solidFill>
                  <a:srgbClr val="334155"/>
                </a:solidFill>
                <a:latin typeface="Calibri"/>
              </a:rPr>
              <a:t>–  type fixes the order of magnitude.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841248"/>
          </a:xfrm>
          <a:prstGeom prst="rect">
            <a:avLst/>
          </a:prstGeom>
          <a:noFill/>
        </p:spPr>
        <p:txBody>
          <a:bodyPr wrap="square">
            <a:spAutoFit/>
          </a:bodyPr>
          <a:lstStyle/>
          <a:p>
            <a:r>
              <a:rPr sz="1200" b="1">
                <a:solidFill>
                  <a:srgbClr val="16A34A"/>
                </a:solidFill>
                <a:latin typeface="Calibri"/>
              </a:rPr>
              <a:t>EXPLAINABILITY
</a:t>
            </a:r>
            <a:r>
              <a:rPr sz="2600" b="1">
                <a:solidFill>
                  <a:srgbClr val="FFFFFF"/>
                </a:solidFill>
                <a:latin typeface="Calibri"/>
              </a:rPr>
              <a:t>What Drives the Model — SHAP Importance</a:t>
            </a:r>
          </a:p>
        </p:txBody>
      </p:sp>
      <p:pic>
        <p:nvPicPr>
          <p:cNvPr id="4" name="Picture 3" descr="07_shap.png"/>
          <p:cNvPicPr>
            <a:picLocks noChangeAspect="1"/>
          </p:cNvPicPr>
          <p:nvPr/>
        </p:nvPicPr>
        <p:blipFill>
          <a:blip r:embed="rId2"/>
          <a:stretch>
            <a:fillRect/>
          </a:stretch>
        </p:blipFill>
        <p:spPr>
          <a:xfrm>
            <a:off x="411480" y="1280160"/>
            <a:ext cx="6766560" cy="3557221"/>
          </a:xfrm>
          <a:prstGeom prst="rect">
            <a:avLst/>
          </a:prstGeom>
        </p:spPr>
      </p:pic>
      <p:sp>
        <p:nvSpPr>
          <p:cNvPr id="5" name="TextBox 4"/>
          <p:cNvSpPr txBox="1"/>
          <p:nvPr/>
        </p:nvSpPr>
        <p:spPr>
          <a:xfrm>
            <a:off x="7406640" y="1371600"/>
            <a:ext cx="4572000" cy="5120640"/>
          </a:xfrm>
          <a:prstGeom prst="rect">
            <a:avLst/>
          </a:prstGeom>
          <a:noFill/>
        </p:spPr>
        <p:txBody>
          <a:bodyPr wrap="square">
            <a:spAutoFit/>
          </a:bodyPr>
          <a:lstStyle/>
          <a:p>
            <a:pPr>
              <a:spcAft>
                <a:spcPts val="600"/>
              </a:spcAft>
            </a:pPr>
            <a:r>
              <a:rPr sz="1350" b="1">
                <a:solidFill>
                  <a:srgbClr val="0B3D2E"/>
                </a:solidFill>
                <a:latin typeface="Calibri"/>
              </a:rPr>
              <a:t>•  No single dominant feature —</a:t>
            </a:r>
          </a:p>
          <a:p>
            <a:pPr lvl="1">
              <a:spcAft>
                <a:spcPts val="600"/>
              </a:spcAft>
            </a:pPr>
            <a:r>
              <a:rPr sz="1150" b="0">
                <a:solidFill>
                  <a:srgbClr val="334155"/>
                </a:solidFill>
                <a:latin typeface="Calibri"/>
              </a:rPr>
              <a:t>–  the signal is spread out.</a:t>
            </a:r>
          </a:p>
          <a:p>
            <a:pPr>
              <a:spcAft>
                <a:spcPts val="600"/>
              </a:spcAft>
            </a:pPr>
            <a:r>
              <a:rPr sz="1350" b="0">
                <a:solidFill>
                  <a:srgbClr val="334155"/>
                </a:solidFill>
                <a:latin typeface="Calibri"/>
              </a:rPr>
              <a:t>•  Top: duration_days 12% ·</a:t>
            </a:r>
          </a:p>
          <a:p>
            <a:pPr lvl="1">
              <a:spcAft>
                <a:spcPts val="600"/>
              </a:spcAft>
            </a:pPr>
            <a:r>
              <a:rPr sz="1150" b="0">
                <a:solidFill>
                  <a:srgbClr val="334155"/>
                </a:solidFill>
                <a:latin typeface="Calibri"/>
              </a:rPr>
              <a:t>–  has_exact_coords 12% ·</a:t>
            </a:r>
          </a:p>
          <a:p>
            <a:pPr lvl="1">
              <a:spcAft>
                <a:spcPts val="600"/>
              </a:spcAft>
            </a:pPr>
            <a:r>
              <a:rPr sz="1150" b="0">
                <a:solidFill>
                  <a:srgbClr val="334155"/>
                </a:solidFill>
                <a:latin typeface="Calibri"/>
              </a:rPr>
              <a:t>–  dis_mag_value 10% · year 8%.</a:t>
            </a:r>
          </a:p>
          <a:p>
            <a:pPr>
              <a:spcAft>
                <a:spcPts val="600"/>
              </a:spcAft>
            </a:pPr>
            <a:r>
              <a:rPr sz="1350" b="1">
                <a:solidFill>
                  <a:srgbClr val="16A34A"/>
                </a:solidFill>
                <a:latin typeface="Calibri"/>
              </a:rPr>
              <a:t>•  Magnitude features are why</a:t>
            </a:r>
          </a:p>
          <a:p>
            <a:pPr lvl="1">
              <a:spcAft>
                <a:spcPts val="600"/>
              </a:spcAft>
            </a:pPr>
            <a:r>
              <a:rPr sz="1150" b="0">
                <a:solidFill>
                  <a:srgbClr val="334155"/>
                </a:solidFill>
                <a:latin typeface="Calibri"/>
              </a:rPr>
              <a:t>–  Earthquake is near-perfect.</a:t>
            </a:r>
          </a:p>
          <a:p>
            <a:pPr lvl="1">
              <a:spcAft>
                <a:spcPts val="600"/>
              </a:spcAft>
            </a:pPr>
            <a:r>
              <a:rPr sz="1150" b="0">
                <a:solidFill>
                  <a:srgbClr val="64748B"/>
                </a:solidFill>
                <a:latin typeface="Calibri"/>
              </a:rPr>
              <a:t>–  (magnitude is known pre-event —</a:t>
            </a:r>
          </a:p>
          <a:p>
            <a:pPr lvl="1">
              <a:spcAft>
                <a:spcPts val="600"/>
              </a:spcAft>
            </a:pPr>
            <a:r>
              <a:rPr sz="1150" b="0">
                <a:solidFill>
                  <a:srgbClr val="64748B"/>
                </a:solidFill>
                <a:latin typeface="Calibri"/>
              </a:rPr>
              <a:t>–  not leakage.)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841248"/>
          </a:xfrm>
          <a:prstGeom prst="rect">
            <a:avLst/>
          </a:prstGeom>
          <a:noFill/>
        </p:spPr>
        <p:txBody>
          <a:bodyPr wrap="square">
            <a:spAutoFit/>
          </a:bodyPr>
          <a:lstStyle/>
          <a:p>
            <a:r>
              <a:rPr sz="2600" b="1">
                <a:solidFill>
                  <a:srgbClr val="FFFFFF"/>
                </a:solidFill>
                <a:latin typeface="Calibri"/>
              </a:rPr>
              <a:t>Why These Are the Best Results — What Moved the Numbers</a:t>
            </a:r>
          </a:p>
        </p:txBody>
      </p:sp>
      <p:graphicFrame>
        <p:nvGraphicFramePr>
          <p:cNvPr id="4" name="Table 3"/>
          <p:cNvGraphicFramePr>
            <a:graphicFrameLocks noGrp="1"/>
          </p:cNvGraphicFramePr>
          <p:nvPr/>
        </p:nvGraphicFramePr>
        <p:xfrm>
          <a:off x="457200" y="1280160"/>
          <a:ext cx="11247120" cy="2926080"/>
        </p:xfrm>
        <a:graphic>
          <a:graphicData uri="http://schemas.openxmlformats.org/drawingml/2006/table">
            <a:tbl>
              <a:tblPr firstRow="1" bandRow="1">
                <a:tableStyleId>{5C22544A-7EE6-4342-B048-85BDC9FD1C3A}</a:tableStyleId>
              </a:tblPr>
              <a:tblGrid>
                <a:gridCol w="4937760"/>
                <a:gridCol w="3291840"/>
                <a:gridCol w="3017520"/>
              </a:tblGrid>
              <a:tr h="365760">
                <a:tc>
                  <a:txBody>
                    <a:bodyPr wrap="square"/>
                    <a:lstStyle/>
                    <a:p>
                      <a:r>
                        <a:rPr b="1" sz="1250">
                          <a:solidFill>
                            <a:srgbClr val="FFFFFF"/>
                          </a:solidFill>
                          <a:latin typeface="Calibri"/>
                        </a:rPr>
                        <a:t>Lever we applied</a:t>
                      </a:r>
                    </a:p>
                  </a:txBody>
                  <a:tcPr marL="64008" marR="64008" marT="18288" marB="18288" anchor="ctr">
                    <a:solidFill>
                      <a:srgbClr val="0B3D2E"/>
                    </a:solidFill>
                  </a:tcPr>
                </a:tc>
                <a:tc>
                  <a:txBody>
                    <a:bodyPr wrap="square"/>
                    <a:lstStyle/>
                    <a:p>
                      <a:r>
                        <a:rPr b="1" sz="1250">
                          <a:solidFill>
                            <a:srgbClr val="FFFFFF"/>
                          </a:solidFill>
                          <a:latin typeface="Calibri"/>
                        </a:rPr>
                        <a:t>Effect</a:t>
                      </a:r>
                    </a:p>
                  </a:txBody>
                  <a:tcPr marL="64008" marR="64008" marT="18288" marB="18288" anchor="ctr">
                    <a:solidFill>
                      <a:srgbClr val="0B3D2E"/>
                    </a:solidFill>
                  </a:tcPr>
                </a:tc>
                <a:tc>
                  <a:txBody>
                    <a:bodyPr wrap="square"/>
                    <a:lstStyle/>
                    <a:p>
                      <a:r>
                        <a:rPr b="1" sz="1250">
                          <a:solidFill>
                            <a:srgbClr val="FFFFFF"/>
                          </a:solidFill>
                          <a:latin typeface="Calibri"/>
                        </a:rPr>
                        <a:t>Verdict</a:t>
                      </a:r>
                    </a:p>
                  </a:txBody>
                  <a:tcPr marL="64008" marR="64008" marT="18288" marB="18288" anchor="ctr">
                    <a:solidFill>
                      <a:srgbClr val="0B3D2E"/>
                    </a:solidFill>
                  </a:tcPr>
                </a:tc>
              </a:tr>
              <a:tr h="365760">
                <a:tc>
                  <a:txBody>
                    <a:bodyPr wrap="square"/>
                    <a:lstStyle/>
                    <a:p>
                      <a:r>
                        <a:rPr sz="1250" b="1">
                          <a:solidFill>
                            <a:srgbClr val="0B3D2E"/>
                          </a:solidFill>
                          <a:latin typeface="Calibri"/>
                        </a:rPr>
                        <a:t>Trees + class weights (vs linear)</a:t>
                      </a:r>
                    </a:p>
                  </a:txBody>
                  <a:tcPr marL="64008" marR="64008" marT="18288" marB="18288" anchor="ctr">
                    <a:solidFill>
                      <a:srgbClr val="FFFFFF"/>
                    </a:solidFill>
                  </a:tcPr>
                </a:tc>
                <a:tc>
                  <a:txBody>
                    <a:bodyPr wrap="square"/>
                    <a:lstStyle/>
                    <a:p>
                      <a:r>
                        <a:rPr sz="1250">
                          <a:solidFill>
                            <a:srgbClr val="334155"/>
                          </a:solidFill>
                          <a:latin typeface="Calibri"/>
                        </a:rPr>
                        <a:t>the bulk of macro-F1</a:t>
                      </a:r>
                    </a:p>
                  </a:txBody>
                  <a:tcPr marL="64008" marR="64008" marT="18288" marB="18288" anchor="ctr">
                    <a:solidFill>
                      <a:srgbClr val="FFFFFF"/>
                    </a:solidFill>
                  </a:tcPr>
                </a:tc>
                <a:tc>
                  <a:txBody>
                    <a:bodyPr wrap="square"/>
                    <a:lstStyle/>
                    <a:p>
                      <a:r>
                        <a:rPr sz="1250">
                          <a:solidFill>
                            <a:srgbClr val="334155"/>
                          </a:solidFill>
                          <a:latin typeface="Calibri"/>
                        </a:rPr>
                        <a:t>kept — the real lever</a:t>
                      </a:r>
                    </a:p>
                  </a:txBody>
                  <a:tcPr marL="64008" marR="64008" marT="18288" marB="18288" anchor="ctr">
                    <a:solidFill>
                      <a:srgbClr val="FFFFFF"/>
                    </a:solidFill>
                  </a:tcPr>
                </a:tc>
              </a:tr>
              <a:tr h="365760">
                <a:tc>
                  <a:txBody>
                    <a:bodyPr wrap="square"/>
                    <a:lstStyle/>
                    <a:p>
                      <a:r>
                        <a:rPr sz="1250" b="1">
                          <a:solidFill>
                            <a:srgbClr val="0B3D2E"/>
                          </a:solidFill>
                          <a:latin typeface="Calibri"/>
                        </a:rPr>
                        <a:t>Optuna tuning (CV macro-F1)</a:t>
                      </a:r>
                    </a:p>
                  </a:txBody>
                  <a:tcPr marL="64008" marR="64008" marT="18288" marB="18288" anchor="ctr">
                    <a:solidFill>
                      <a:srgbClr val="F1F5F9"/>
                    </a:solidFill>
                  </a:tcPr>
                </a:tc>
                <a:tc>
                  <a:txBody>
                    <a:bodyPr wrap="square"/>
                    <a:lstStyle/>
                    <a:p>
                      <a:r>
                        <a:rPr sz="1250">
                          <a:solidFill>
                            <a:srgbClr val="334155"/>
                          </a:solidFill>
                          <a:latin typeface="Calibri"/>
                        </a:rPr>
                        <a:t>≈ ±0.002 (fold noise)</a:t>
                      </a:r>
                    </a:p>
                  </a:txBody>
                  <a:tcPr marL="64008" marR="64008" marT="18288" marB="18288" anchor="ctr">
                    <a:solidFill>
                      <a:srgbClr val="F1F5F9"/>
                    </a:solidFill>
                  </a:tcPr>
                </a:tc>
                <a:tc>
                  <a:txBody>
                    <a:bodyPr wrap="square"/>
                    <a:lstStyle/>
                    <a:p>
                      <a:r>
                        <a:rPr sz="1250">
                          <a:solidFill>
                            <a:srgbClr val="334155"/>
                          </a:solidFill>
                          <a:latin typeface="Calibri"/>
                        </a:rPr>
                        <a:t>kept, but not the win</a:t>
                      </a:r>
                    </a:p>
                  </a:txBody>
                  <a:tcPr marL="64008" marR="64008" marT="18288" marB="18288" anchor="ctr">
                    <a:solidFill>
                      <a:srgbClr val="F1F5F9"/>
                    </a:solidFill>
                  </a:tcPr>
                </a:tc>
              </a:tr>
              <a:tr h="365760">
                <a:tc>
                  <a:txBody>
                    <a:bodyPr wrap="square"/>
                    <a:lstStyle/>
                    <a:p>
                      <a:r>
                        <a:rPr sz="1250" b="1">
                          <a:solidFill>
                            <a:srgbClr val="0B3D2E"/>
                          </a:solidFill>
                          <a:latin typeface="Calibri"/>
                        </a:rPr>
                        <a:t>Soft-vote ensemble (0.3/0.1/0.6)</a:t>
                      </a:r>
                    </a:p>
                  </a:txBody>
                  <a:tcPr marL="64008" marR="64008" marT="18288" marB="18288" anchor="ctr">
                    <a:solidFill>
                      <a:srgbClr val="FFFFFF"/>
                    </a:solidFill>
                  </a:tcPr>
                </a:tc>
                <a:tc>
                  <a:txBody>
                    <a:bodyPr wrap="square"/>
                    <a:lstStyle/>
                    <a:p>
                      <a:r>
                        <a:rPr sz="1250">
                          <a:solidFill>
                            <a:srgbClr val="334155"/>
                          </a:solidFill>
                          <a:latin typeface="Calibri"/>
                        </a:rPr>
                        <a:t>+0.001 over best member</a:t>
                      </a:r>
                    </a:p>
                  </a:txBody>
                  <a:tcPr marL="64008" marR="64008" marT="18288" marB="18288" anchor="ctr">
                    <a:solidFill>
                      <a:srgbClr val="FFFFFF"/>
                    </a:solidFill>
                  </a:tcPr>
                </a:tc>
                <a:tc>
                  <a:txBody>
                    <a:bodyPr wrap="square"/>
                    <a:lstStyle/>
                    <a:p>
                      <a:r>
                        <a:rPr sz="1250">
                          <a:solidFill>
                            <a:srgbClr val="334155"/>
                          </a:solidFill>
                          <a:latin typeface="Calibri"/>
                        </a:rPr>
                        <a:t>kept — small honest nudge</a:t>
                      </a:r>
                    </a:p>
                  </a:txBody>
                  <a:tcPr marL="64008" marR="64008" marT="18288" marB="18288" anchor="ctr">
                    <a:solidFill>
                      <a:srgbClr val="FFFFFF"/>
                    </a:solidFill>
                  </a:tcPr>
                </a:tc>
              </a:tr>
              <a:tr h="365760">
                <a:tc>
                  <a:txBody>
                    <a:bodyPr wrap="square"/>
                    <a:lstStyle/>
                    <a:p>
                      <a:r>
                        <a:rPr sz="1250" b="1">
                          <a:solidFill>
                            <a:srgbClr val="0B3D2E"/>
                          </a:solidFill>
                          <a:latin typeface="Calibri"/>
                        </a:rPr>
                        <a:t>Regression: drop-null + per-type</a:t>
                      </a:r>
                    </a:p>
                  </a:txBody>
                  <a:tcPr marL="64008" marR="64008" marT="18288" marB="18288" anchor="ctr">
                    <a:solidFill>
                      <a:srgbClr val="F1F5F9"/>
                    </a:solidFill>
                  </a:tcPr>
                </a:tc>
                <a:tc>
                  <a:txBody>
                    <a:bodyPr wrap="square"/>
                    <a:lstStyle/>
                    <a:p>
                      <a:r>
                        <a:rPr sz="1250">
                          <a:solidFill>
                            <a:srgbClr val="334155"/>
                          </a:solidFill>
                          <a:latin typeface="Calibri"/>
                        </a:rPr>
                        <a:t>un-poisons targets</a:t>
                      </a:r>
                    </a:p>
                  </a:txBody>
                  <a:tcPr marL="64008" marR="64008" marT="18288" marB="18288" anchor="ctr">
                    <a:solidFill>
                      <a:srgbClr val="F1F5F9"/>
                    </a:solidFill>
                  </a:tcPr>
                </a:tc>
                <a:tc>
                  <a:txBody>
                    <a:bodyPr wrap="square"/>
                    <a:lstStyle/>
                    <a:p>
                      <a:r>
                        <a:rPr sz="1250">
                          <a:solidFill>
                            <a:srgbClr val="334155"/>
                          </a:solidFill>
                          <a:latin typeface="Calibri"/>
                        </a:rPr>
                        <a:t>kept — the core fix</a:t>
                      </a:r>
                    </a:p>
                  </a:txBody>
                  <a:tcPr marL="64008" marR="64008" marT="18288" marB="18288" anchor="ctr">
                    <a:solidFill>
                      <a:srgbClr val="F1F5F9"/>
                    </a:solidFill>
                  </a:tcPr>
                </a:tc>
              </a:tr>
              <a:tr h="365760">
                <a:tc>
                  <a:txBody>
                    <a:bodyPr wrap="square"/>
                    <a:lstStyle/>
                    <a:p>
                      <a:r>
                        <a:rPr sz="1250" b="1">
                          <a:solidFill>
                            <a:srgbClr val="0B3D2E"/>
                          </a:solidFill>
                          <a:latin typeface="Calibri"/>
                        </a:rPr>
                        <a:t>Regression: L1 + winsorise p99</a:t>
                      </a:r>
                    </a:p>
                  </a:txBody>
                  <a:tcPr marL="64008" marR="64008" marT="18288" marB="18288" anchor="ctr">
                    <a:solidFill>
                      <a:srgbClr val="FFFFFF"/>
                    </a:solidFill>
                  </a:tcPr>
                </a:tc>
                <a:tc>
                  <a:txBody>
                    <a:bodyPr wrap="square"/>
                    <a:lstStyle/>
                    <a:p>
                      <a:r>
                        <a:rPr sz="1250">
                          <a:solidFill>
                            <a:srgbClr val="334155"/>
                          </a:solidFill>
                          <a:latin typeface="Calibri"/>
                        </a:rPr>
                        <a:t>damage 5.25×→5.02×</a:t>
                      </a:r>
                    </a:p>
                  </a:txBody>
                  <a:tcPr marL="64008" marR="64008" marT="18288" marB="18288" anchor="ctr">
                    <a:solidFill>
                      <a:srgbClr val="FFFFFF"/>
                    </a:solidFill>
                  </a:tcPr>
                </a:tc>
                <a:tc>
                  <a:txBody>
                    <a:bodyPr wrap="square"/>
                    <a:lstStyle/>
                    <a:p>
                      <a:r>
                        <a:rPr sz="1250">
                          <a:solidFill>
                            <a:srgbClr val="334155"/>
                          </a:solidFill>
                          <a:latin typeface="Calibri"/>
                        </a:rPr>
                        <a:t>kept where it helps</a:t>
                      </a:r>
                    </a:p>
                  </a:txBody>
                  <a:tcPr marL="64008" marR="64008" marT="18288" marB="18288" anchor="ctr">
                    <a:solidFill>
                      <a:srgbClr val="FFFFFF"/>
                    </a:solidFill>
                  </a:tcPr>
                </a:tc>
              </a:tr>
              <a:tr h="365760">
                <a:tc>
                  <a:txBody>
                    <a:bodyPr wrap="square"/>
                    <a:lstStyle/>
                    <a:p>
                      <a:r>
                        <a:rPr sz="1250" b="1">
                          <a:solidFill>
                            <a:srgbClr val="0B3D2E"/>
                          </a:solidFill>
                          <a:latin typeface="Calibri"/>
                        </a:rPr>
                        <a:t>Model family swap (XGB/LGB/RF)</a:t>
                      </a:r>
                    </a:p>
                  </a:txBody>
                  <a:tcPr marL="64008" marR="64008" marT="18288" marB="18288" anchor="ctr">
                    <a:solidFill>
                      <a:srgbClr val="F1F5F9"/>
                    </a:solidFill>
                  </a:tcPr>
                </a:tc>
                <a:tc>
                  <a:txBody>
                    <a:bodyPr wrap="square"/>
                    <a:lstStyle/>
                    <a:p>
                      <a:r>
                        <a:rPr sz="1250">
                          <a:solidFill>
                            <a:srgbClr val="334155"/>
                          </a:solidFill>
                          <a:latin typeface="Calibri"/>
                        </a:rPr>
                        <a:t>≈ 0 on regression</a:t>
                      </a:r>
                    </a:p>
                  </a:txBody>
                  <a:tcPr marL="64008" marR="64008" marT="18288" marB="18288" anchor="ctr">
                    <a:solidFill>
                      <a:srgbClr val="F1F5F9"/>
                    </a:solidFill>
                  </a:tcPr>
                </a:tc>
                <a:tc>
                  <a:txBody>
                    <a:bodyPr wrap="square"/>
                    <a:lstStyle/>
                    <a:p>
                      <a:r>
                        <a:rPr sz="1250">
                          <a:solidFill>
                            <a:srgbClr val="334155"/>
                          </a:solidFill>
                          <a:latin typeface="Calibri"/>
                        </a:rPr>
                        <a:t>immaterial here</a:t>
                      </a:r>
                    </a:p>
                  </a:txBody>
                  <a:tcPr marL="64008" marR="64008" marT="18288" marB="18288" anchor="ctr">
                    <a:solidFill>
                      <a:srgbClr val="F1F5F9"/>
                    </a:solidFill>
                  </a:tcPr>
                </a:tc>
              </a:tr>
              <a:tr h="365760">
                <a:tc>
                  <a:txBody>
                    <a:bodyPr wrap="square"/>
                    <a:lstStyle/>
                    <a:p>
                      <a:r>
                        <a:rPr sz="1250" b="1">
                          <a:solidFill>
                            <a:srgbClr val="0B3D2E"/>
                          </a:solidFill>
                          <a:latin typeface="Calibri"/>
                        </a:rPr>
                        <a:t>Fill-0 nulls / mean targets</a:t>
                      </a:r>
                    </a:p>
                  </a:txBody>
                  <a:tcPr marL="64008" marR="64008" marT="18288" marB="18288" anchor="ctr">
                    <a:solidFill>
                      <a:srgbClr val="FFFFFF"/>
                    </a:solidFill>
                  </a:tcPr>
                </a:tc>
                <a:tc>
                  <a:txBody>
                    <a:bodyPr wrap="square"/>
                    <a:lstStyle/>
                    <a:p>
                      <a:r>
                        <a:rPr sz="1250">
                          <a:solidFill>
                            <a:srgbClr val="334155"/>
                          </a:solidFill>
                          <a:latin typeface="Calibri"/>
                        </a:rPr>
                        <a:t>teaches ≈0 / skew-blown</a:t>
                      </a:r>
                    </a:p>
                  </a:txBody>
                  <a:tcPr marL="64008" marR="64008" marT="18288" marB="18288" anchor="ctr">
                    <a:solidFill>
                      <a:srgbClr val="FFFFFF"/>
                    </a:solidFill>
                  </a:tcPr>
                </a:tc>
                <a:tc>
                  <a:txBody>
                    <a:bodyPr wrap="square"/>
                    <a:lstStyle/>
                    <a:p>
                      <a:r>
                        <a:rPr sz="1250">
                          <a:solidFill>
                            <a:srgbClr val="334155"/>
                          </a:solidFill>
                          <a:latin typeface="Calibri"/>
                        </a:rPr>
                        <a:t>rejected (anti-pattern)</a:t>
                      </a:r>
                    </a:p>
                  </a:txBody>
                  <a:tcPr marL="64008" marR="64008" marT="18288" marB="18288" anchor="ctr">
                    <a:solidFill>
                      <a:srgbClr val="FFFFFF"/>
                    </a:solidFill>
                  </a:tcPr>
                </a:tc>
              </a:tr>
            </a:tbl>
          </a:graphicData>
        </a:graphic>
      </p:graphicFrame>
      <p:sp>
        <p:nvSpPr>
          <p:cNvPr id="5" name="Rectangle 4"/>
          <p:cNvSpPr/>
          <p:nvPr/>
        </p:nvSpPr>
        <p:spPr>
          <a:xfrm>
            <a:off x="548640" y="5943600"/>
            <a:ext cx="11064240" cy="64008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035040"/>
            <a:ext cx="10698480" cy="493775"/>
          </a:xfrm>
          <a:prstGeom prst="rect">
            <a:avLst/>
          </a:prstGeom>
          <a:noFill/>
        </p:spPr>
        <p:txBody>
          <a:bodyPr wrap="square">
            <a:spAutoFit/>
          </a:bodyPr>
          <a:lstStyle/>
          <a:p>
            <a:r>
              <a:rPr sz="1500" b="1">
                <a:solidFill>
                  <a:srgbClr val="16A34A"/>
                </a:solidFill>
                <a:latin typeface="Calibri"/>
              </a:rPr>
              <a:t>The verdict:  </a:t>
            </a:r>
            <a:r>
              <a:rPr sz="1500">
                <a:solidFill>
                  <a:srgbClr val="334155"/>
                </a:solidFill>
                <a:latin typeface="Calibri"/>
              </a:rPr>
              <a:t>every lever that CAN move the score is already applied; what's left is bounded by the features, not the algorithm or the tuning budget.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841248"/>
          </a:xfrm>
          <a:prstGeom prst="rect">
            <a:avLst/>
          </a:prstGeom>
          <a:noFill/>
        </p:spPr>
        <p:txBody>
          <a:bodyPr wrap="square">
            <a:spAutoFit/>
          </a:bodyPr>
          <a:lstStyle/>
          <a:p>
            <a:r>
              <a:rPr sz="2600" b="1">
                <a:solidFill>
                  <a:srgbClr val="FFFFFF"/>
                </a:solidFill>
                <a:latin typeface="Calibri"/>
              </a:rPr>
              <a:t>Why We Can't Get Much Better — the Two Ceilings</a:t>
            </a:r>
          </a:p>
        </p:txBody>
      </p:sp>
      <p:sp>
        <p:nvSpPr>
          <p:cNvPr id="4" name="TextBox 3"/>
          <p:cNvSpPr txBox="1"/>
          <p:nvPr/>
        </p:nvSpPr>
        <p:spPr>
          <a:xfrm>
            <a:off x="548640" y="1325880"/>
            <a:ext cx="11064240" cy="5120640"/>
          </a:xfrm>
          <a:prstGeom prst="rect">
            <a:avLst/>
          </a:prstGeom>
          <a:noFill/>
        </p:spPr>
        <p:txBody>
          <a:bodyPr wrap="square">
            <a:spAutoFit/>
          </a:bodyPr>
          <a:lstStyle/>
          <a:p>
            <a:pPr>
              <a:spcAft>
                <a:spcPts val="1100"/>
              </a:spcAft>
            </a:pPr>
            <a:r>
              <a:rPr sz="1550" b="1">
                <a:solidFill>
                  <a:srgbClr val="0B3D2E"/>
                </a:solidFill>
                <a:latin typeface="Calibri"/>
              </a:rPr>
              <a:t>•  CLASSIFICATION — a feature/signal ceiling, not a tuning gap:</a:t>
            </a:r>
          </a:p>
          <a:p>
            <a:pPr lvl="1">
              <a:spcAft>
                <a:spcPts val="1100"/>
              </a:spcAft>
            </a:pPr>
            <a:r>
              <a:rPr sz="1350" b="0">
                <a:solidFill>
                  <a:srgbClr val="334155"/>
                </a:solidFill>
                <a:latin typeface="Calibri"/>
              </a:rPr>
              <a:t>–  Flood / Storm / Landslide overlap in (location, season, magnitude) — ~350 mutual misclassifications.</a:t>
            </a:r>
          </a:p>
          <a:p>
            <a:pPr lvl="1">
              <a:spcAft>
                <a:spcPts val="1100"/>
              </a:spcAft>
            </a:pPr>
            <a:r>
              <a:rPr sz="1350" b="0">
                <a:solidFill>
                  <a:srgbClr val="334155"/>
                </a:solidFill>
                <a:latin typeface="Calibri"/>
              </a:rPr>
              <a:t>–  Minorities (Volcanic n=53, Wildfire n=94) are variance-limited: too little data for a stable boundary.</a:t>
            </a:r>
          </a:p>
          <a:p>
            <a:pPr lvl="1">
              <a:spcAft>
                <a:spcPts val="1100"/>
              </a:spcAft>
            </a:pPr>
            <a:r>
              <a:rPr sz="1350" b="0">
                <a:solidFill>
                  <a:srgbClr val="64748B"/>
                </a:solidFill>
                <a:latin typeface="Calibri"/>
              </a:rPr>
              <a:t>–  All 3 tree members within 0.006; Optuna adds ~0.002 → the algorithm is not the bottleneck.</a:t>
            </a:r>
          </a:p>
          <a:p>
            <a:pPr>
              <a:spcAft>
                <a:spcPts val="1100"/>
              </a:spcAft>
            </a:pPr>
            <a:r>
              <a:rPr sz="1550" b="1">
                <a:solidFill>
                  <a:srgbClr val="0B3D2E"/>
                </a:solidFill>
                <a:latin typeface="Calibri"/>
              </a:rPr>
              <a:t>•  REGRESSION — a hard signal ceiling:</a:t>
            </a:r>
          </a:p>
          <a:p>
            <a:pPr lvl="1">
              <a:spcAft>
                <a:spcPts val="1100"/>
              </a:spcAft>
            </a:pPr>
            <a:r>
              <a:rPr sz="1350" b="0">
                <a:solidFill>
                  <a:srgbClr val="334155"/>
                </a:solidFill>
                <a:latin typeface="Calibri"/>
              </a:rPr>
              <a:t>–  Raw R² ≈ 0 → impact magnitude is set by EXPOSURE (population, GDP, codes) absent from the data.</a:t>
            </a:r>
          </a:p>
          <a:p>
            <a:pPr lvl="1">
              <a:spcAft>
                <a:spcPts val="1100"/>
              </a:spcAft>
            </a:pPr>
            <a:r>
              <a:rPr sz="1350" b="0">
                <a:solidFill>
                  <a:srgbClr val="334155"/>
                </a:solidFill>
                <a:latin typeface="Calibri"/>
              </a:rPr>
              <a:t>–  Injuries / affected sit at their data-coverage floor (26% / 71% recorded) — no recipe helps.</a:t>
            </a:r>
          </a:p>
          <a:p>
            <a:pPr>
              <a:spcAft>
                <a:spcPts val="1100"/>
              </a:spcAft>
            </a:pPr>
            <a:r>
              <a:rPr sz="1550" b="1">
                <a:solidFill>
                  <a:srgbClr val="16A34A"/>
                </a:solidFill>
                <a:latin typeface="Calibri"/>
              </a:rPr>
              <a:t>•  The only real levers left: external features (precipitation, elevation, exposure) + a temporal split + more minority data.</a:t>
            </a:r>
          </a:p>
        </p:txBody>
      </p:sp>
      <p:sp>
        <p:nvSpPr>
          <p:cNvPr id="5" name="Rectangle 4"/>
          <p:cNvSpPr/>
          <p:nvPr/>
        </p:nvSpPr>
        <p:spPr>
          <a:xfrm>
            <a:off x="548640" y="5989320"/>
            <a:ext cx="11064240" cy="594360"/>
          </a:xfrm>
          <a:prstGeom prst="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080759"/>
            <a:ext cx="10698480" cy="448056"/>
          </a:xfrm>
          <a:prstGeom prst="rect">
            <a:avLst/>
          </a:prstGeom>
          <a:noFill/>
        </p:spPr>
        <p:txBody>
          <a:bodyPr wrap="square">
            <a:spAutoFit/>
          </a:bodyPr>
          <a:lstStyle/>
          <a:p>
            <a:r>
              <a:rPr sz="1500" b="1">
                <a:solidFill>
                  <a:srgbClr val="DC2626"/>
                </a:solidFill>
                <a:latin typeface="Calibri"/>
              </a:rPr>
              <a:t>Bottom line:  </a:t>
            </a:r>
            <a:r>
              <a:rPr sz="1500">
                <a:solidFill>
                  <a:srgbClr val="334155"/>
                </a:solidFill>
                <a:latin typeface="Calibri"/>
              </a:rPr>
              <a:t>the results are at the ceiling of THIS feature set — improving them needs new data (exogenous features), not a better model or more trials.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B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841248"/>
          </a:xfrm>
          <a:prstGeom prst="rect">
            <a:avLst/>
          </a:prstGeom>
          <a:noFill/>
        </p:spPr>
        <p:txBody>
          <a:bodyPr wrap="square">
            <a:spAutoFit/>
          </a:bodyPr>
          <a:lstStyle/>
          <a:p>
            <a:r>
              <a:rPr sz="2600" b="1">
                <a:solidFill>
                  <a:srgbClr val="FFFFFF"/>
                </a:solidFill>
                <a:latin typeface="Calibri"/>
              </a:rPr>
              <a:t>Key Takeaways</a:t>
            </a:r>
          </a:p>
        </p:txBody>
      </p:sp>
      <p:sp>
        <p:nvSpPr>
          <p:cNvPr id="4" name="TextBox 3"/>
          <p:cNvSpPr txBox="1"/>
          <p:nvPr/>
        </p:nvSpPr>
        <p:spPr>
          <a:xfrm>
            <a:off x="548640" y="1463040"/>
            <a:ext cx="11064240" cy="5120640"/>
          </a:xfrm>
          <a:prstGeom prst="rect">
            <a:avLst/>
          </a:prstGeom>
          <a:noFill/>
        </p:spPr>
        <p:txBody>
          <a:bodyPr wrap="square">
            <a:spAutoFit/>
          </a:bodyPr>
          <a:lstStyle/>
          <a:p>
            <a:pPr>
              <a:spcAft>
                <a:spcPts val="1700"/>
              </a:spcAft>
            </a:pPr>
            <a:r>
              <a:rPr sz="1700" b="1">
                <a:solidFill>
                  <a:srgbClr val="16A34A"/>
                </a:solidFill>
                <a:latin typeface="Calibri"/>
              </a:rPr>
              <a:t>•  Honest, clean evaluation: single file, stratified split, encoders on train only — no train/test leak.</a:t>
            </a:r>
          </a:p>
          <a:p>
            <a:pPr>
              <a:spcAft>
                <a:spcPts val="1700"/>
              </a:spcAft>
            </a:pPr>
            <a:r>
              <a:rPr sz="1700" b="1">
                <a:solidFill>
                  <a:srgbClr val="0B3D2E"/>
                </a:solidFill>
                <a:latin typeface="Calibri"/>
              </a:rPr>
              <a:t>•  Classifier: macro-F1 0.6885, ROC-AUC 0.95 — Earthquake 0.99, hydro-met cluster is the ceiling.</a:t>
            </a:r>
          </a:p>
          <a:p>
            <a:pPr>
              <a:spcAft>
                <a:spcPts val="1700"/>
              </a:spcAft>
            </a:pPr>
            <a:r>
              <a:rPr sz="1700" b="1">
                <a:solidFill>
                  <a:srgbClr val="0B3D2E"/>
                </a:solidFill>
                <a:latin typeface="Calibri"/>
              </a:rPr>
              <a:t>•  Regressors: deaths 2.71× · damage 5.02× typical error, with positive log-R² (0.23–0.43).</a:t>
            </a:r>
          </a:p>
          <a:p>
            <a:pPr>
              <a:spcAft>
                <a:spcPts val="1700"/>
              </a:spcAft>
            </a:pPr>
            <a:r>
              <a:rPr sz="1700" b="0">
                <a:solidFill>
                  <a:srgbClr val="334155"/>
                </a:solidFill>
                <a:latin typeface="Calibri"/>
              </a:rPr>
              <a:t>•  The big regression win was un-poisoning the target (drop-null + per-type), not a fancier algorithm.</a:t>
            </a:r>
          </a:p>
          <a:p>
            <a:pPr>
              <a:spcAft>
                <a:spcPts val="1700"/>
              </a:spcAft>
            </a:pPr>
            <a:r>
              <a:rPr sz="1700" b="1">
                <a:solidFill>
                  <a:srgbClr val="DC2626"/>
                </a:solidFill>
                <a:latin typeface="Calibri"/>
              </a:rPr>
              <a:t>•  We can't go much further because the limit is the FEATURES (signal/exposure), not the model or tuning.</a:t>
            </a:r>
          </a:p>
          <a:p>
            <a:pPr>
              <a:spcAft>
                <a:spcPts val="1700"/>
              </a:spcAft>
            </a:pPr>
            <a:r>
              <a:rPr sz="1700" b="0">
                <a:solidFill>
                  <a:srgbClr val="334155"/>
                </a:solidFill>
                <a:latin typeface="Calibri"/>
              </a:rPr>
              <a:t>•  Negative results are results: fill-0 nulls, mean targets, model-family swaps — tested and rejected with reasons.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3D2E"/>
        </a:solidFill>
        <a:effectLst/>
      </p:bgPr>
    </p:bg>
    <p:spTree>
      <p:nvGrpSpPr>
        <p:cNvPr id="1" name=""/>
        <p:cNvGrpSpPr/>
        <p:nvPr/>
      </p:nvGrpSpPr>
      <p:grpSpPr/>
      <p:sp>
        <p:nvSpPr>
          <p:cNvPr id="2" name="Rectangle 1"/>
          <p:cNvSpPr/>
          <p:nvPr/>
        </p:nvSpPr>
        <p:spPr>
          <a:xfrm>
            <a:off x="0" y="2331720"/>
            <a:ext cx="12191695" cy="73152"/>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32720" cy="914400"/>
          </a:xfrm>
          <a:prstGeom prst="rect">
            <a:avLst/>
          </a:prstGeom>
          <a:noFill/>
        </p:spPr>
        <p:txBody>
          <a:bodyPr wrap="square">
            <a:spAutoFit/>
          </a:bodyPr>
          <a:lstStyle/>
          <a:p>
            <a:pPr algn="ctr"/>
            <a:r>
              <a:rPr sz="4200" b="1">
                <a:solidFill>
                  <a:srgbClr val="FFFFFF"/>
                </a:solidFill>
                <a:latin typeface="Calibri"/>
              </a:rPr>
              <a:t>Thank You  🌍</a:t>
            </a:r>
          </a:p>
        </p:txBody>
      </p:sp>
      <p:sp>
        <p:nvSpPr>
          <p:cNvPr id="4" name="TextBox 3"/>
          <p:cNvSpPr txBox="1"/>
          <p:nvPr/>
        </p:nvSpPr>
        <p:spPr>
          <a:xfrm>
            <a:off x="914400" y="2468880"/>
            <a:ext cx="10332720" cy="548640"/>
          </a:xfrm>
          <a:prstGeom prst="rect">
            <a:avLst/>
          </a:prstGeom>
          <a:noFill/>
        </p:spPr>
        <p:txBody>
          <a:bodyPr wrap="square">
            <a:spAutoFit/>
          </a:bodyPr>
          <a:lstStyle/>
          <a:p>
            <a:pPr algn="ctr"/>
            <a:r>
              <a:rPr sz="2400" b="1">
                <a:solidFill>
                  <a:srgbClr val="16A34A"/>
                </a:solidFill>
                <a:latin typeface="Calibri"/>
              </a:rPr>
              <a:t>Questions?</a:t>
            </a:r>
          </a:p>
        </p:txBody>
      </p:sp>
      <p:sp>
        <p:nvSpPr>
          <p:cNvPr id="5" name="TextBox 4"/>
          <p:cNvSpPr txBox="1"/>
          <p:nvPr/>
        </p:nvSpPr>
        <p:spPr>
          <a:xfrm>
            <a:off x="822960" y="3291840"/>
            <a:ext cx="10515600" cy="2926080"/>
          </a:xfrm>
          <a:prstGeom prst="rect">
            <a:avLst/>
          </a:prstGeom>
          <a:noFill/>
        </p:spPr>
        <p:txBody>
          <a:bodyPr wrap="square">
            <a:spAutoFit/>
          </a:bodyPr>
          <a:lstStyle/>
          <a:p>
            <a:pPr algn="ctr">
              <a:spcAft>
                <a:spcPts val="700"/>
              </a:spcAft>
            </a:pPr>
            <a:r>
              <a:rPr sz="1600" b="1">
                <a:solidFill>
                  <a:srgbClr val="16A34A"/>
                </a:solidFill>
                <a:latin typeface="Calibri"/>
              </a:rPr>
              <a:t>Anticipated questions:</a:t>
            </a:r>
          </a:p>
          <a:p>
            <a:pPr algn="l">
              <a:spcAft>
                <a:spcPts val="700"/>
              </a:spcAft>
            </a:pPr>
            <a:r>
              <a:rPr sz="1400" b="0">
                <a:solidFill>
                  <a:srgbClr val="E2E8F0"/>
                </a:solidFill>
                <a:latin typeface="Calibri"/>
              </a:rPr>
              <a:t>•  Is macro-F1 0.689 honest?  →  Yes — clean single-file stratified split, encoders on train only.</a:t>
            </a:r>
          </a:p>
          <a:p>
            <a:pPr algn="l">
              <a:spcAft>
                <a:spcPts val="700"/>
              </a:spcAft>
            </a:pPr>
            <a:r>
              <a:rPr sz="1400" b="0">
                <a:solidFill>
                  <a:srgbClr val="E2E8F0"/>
                </a:solidFill>
                <a:latin typeface="Calibri"/>
              </a:rPr>
              <a:t>•  Why is Earthquake so easy?  →  The magnitude feature is near-deterministic for it.</a:t>
            </a:r>
          </a:p>
          <a:p>
            <a:pPr algn="l">
              <a:spcAft>
                <a:spcPts val="700"/>
              </a:spcAft>
            </a:pPr>
            <a:r>
              <a:rPr sz="1400" b="0">
                <a:solidFill>
                  <a:srgbClr val="E2E8F0"/>
                </a:solidFill>
                <a:latin typeface="Calibri"/>
              </a:rPr>
              <a:t>•  Why do Flood/Storm/Landslide confuse?  →  They overlap in location/season/magnitude; no weather/terrain features.</a:t>
            </a:r>
          </a:p>
          <a:p>
            <a:pPr algn="l">
              <a:spcAft>
                <a:spcPts val="700"/>
              </a:spcAft>
            </a:pPr>
            <a:r>
              <a:rPr sz="1400" b="0">
                <a:solidFill>
                  <a:srgbClr val="E2E8F0"/>
                </a:solidFill>
                <a:latin typeface="Calibri"/>
              </a:rPr>
              <a:t>•  Why is regression R² ≈ 0?  →  Impact magnitude needs exposure (population/GDP/codes) — absent from the data.</a:t>
            </a:r>
          </a:p>
          <a:p>
            <a:pPr algn="l">
              <a:spcAft>
                <a:spcPts val="700"/>
              </a:spcAft>
            </a:pPr>
            <a:r>
              <a:rPr sz="1400" b="0">
                <a:solidFill>
                  <a:srgbClr val="E2E8F0"/>
                </a:solidFill>
                <a:latin typeface="Calibri"/>
              </a:rPr>
              <a:t>•  Biggest available win?  →  Add exogenous features (precip, elevation, exposure) + a temporal split.</a:t>
            </a:r>
          </a:p>
        </p:txBody>
      </p:sp>
      <p:sp>
        <p:nvSpPr>
          <p:cNvPr id="6" name="TextBox 5"/>
          <p:cNvSpPr txBox="1"/>
          <p:nvPr/>
        </p:nvSpPr>
        <p:spPr>
          <a:xfrm>
            <a:off x="914400" y="6355080"/>
            <a:ext cx="10332720" cy="365760"/>
          </a:xfrm>
          <a:prstGeom prst="rect">
            <a:avLst/>
          </a:prstGeom>
          <a:noFill/>
        </p:spPr>
        <p:txBody>
          <a:bodyPr wrap="square">
            <a:spAutoFit/>
          </a:bodyPr>
          <a:lstStyle/>
          <a:p>
            <a:pPr algn="ctr"/>
            <a:r>
              <a:rPr sz="1200">
                <a:solidFill>
                  <a:srgbClr val="94A3B8"/>
                </a:solidFill>
                <a:latin typeface="Calibri"/>
              </a:rPr>
              <a:t>Source: notebooks/07_train3_impact_evaluation.ipynb  ·  Data: EM-DAT enriched (8 types)  ·  safeearth.tech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