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trained a disaster-prediction model and wrapped it in an API. This talk is the part nobody sees in a notebook demo: the seven cloud services, the secrets, the build scripts, and the trade-offs that take it from 'runs on my laptop' to 'live on the internet'. It's the difference between a result and a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mental shift: the job changes from 'produce the right answer once' to 'keep producing it forever, on a machine I don't control, for people I'll never meet'. Everything after this slide solves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restaurant analogy carries the whole talk — I reuse kitchen / dining room / utilities / new dishes for every piece. Localhost = home kitchen. Deployment = restaurant: building (host), utilities (DB, config), safe rollout (CI/CD).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insight for a notebook person: opposite of one process where everything shares memory. Here model / data store / API / UI are four different machines in four data centers. That separation lets each scale and be replaced independently — and it's also why deployment feels complicated at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read every row. Two takeaways: everything is declared as a file in the repo (infrastructure-as-code), and everything is free tier. That constraint shaped every later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Free Hobby tier is non-commercial with bandwidth caps — perfect for a portfolio. The 'push and it's live with HTTPS in 90s' experience is the selling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uvicorn command as the notebook, two new flags, and the host keeps it alive. The 512 MB RAM limit is the recurring villain — flag it here, pay it off on the RAG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DS framing: a CSV is a dead file you load into pandas; a DB is a live queryable store many users hit at once, with guarantees two simultaneous signups won't collide. Same Postgres locally and in prod = no surprises.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DS analogy: a model registry / artifact store — the thing you'd reach for instead of a .pkl sitting in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slide professors probe. Lesson = engineering maturity: match the solution to a real constraint and degrade gracefully. Whole-chapter retrieval is less precise than vectors, but for a fixed 8-category PDF it's fine — and it's the difference between 'RAG runs on free tier' and 'the server won't boot'.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'trigger only, no logic' separation is the point — the schedule lives outside the code so I change it without redeploying, and the secret stops user-spam.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NEXT_PUBLIC_ rail is a good security detail: it forces a conscious choice to expose anything to the browser, so a backend secret can't leak into the client bundle by accident.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upfront: this is continuous deployment, not full CI with a test gate. Naming the gap shows I know what a mature pipeline adds — and it's a clean future-work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example: an ads table and an unsubscribe token were both added AFTER launch, safely, via migrations.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small 'glue' topics. Honest Docker framing: a container would give bit-for-bit portability if I outgrew Render, but for one Python service a buildpack is simpler. I chose simplicity and can name what I traded.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it clicks — walk it slowly, name the real file at each hop. If short on time, cut a component slide, never this one. The health gate (step 5) is worth a beat: a failed build never switches traffic, so the old version stays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shows engineering maturity for the room. Every row pairs a choice with what it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Deliberate slide: it pre-empts every 'but isn't X a problem?' by naming X first, with the fix. Professors reward the engineer who critiques their own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this audience, the slide that makes everything land. Pause on it. Invite them to map any deployment term onto something they already do every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Likely Qs: Why not AWS/Kubernetes? (one small app; PaaS free tiers do the job with a fraction of the ops). Isn't the free tier a problem? (cold start + 512 MB are real; UptimeRobot mitigates one, the RAM limit DROVE the RAG design; both have a paid-tier fix). Keeping secrets safe? (never in git; gitignored .env; sync:false/generateValue; NEXT_PUBLIC_ gates the browser). Groq/HF down? (Groq → DB fallback; HF only matters at cold start). Why two URLs / CORS? (different origins; backend allowlists the frontend). Migration fails? (runs in the build; a failed build doesn't switch traffic — old version stays live).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Calibri"/>
              </a:rPr>
              <a:t>🌍  SafeEarth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4F46E5"/>
                </a:solidFill>
                <a:latin typeface="Calibri"/>
              </a:rPr>
              <a:t>Getting an ML Model Online</a:t>
            </a:r>
          </a:p>
          <a:p>
            <a:pPr algn="ctr"/>
            <a:r>
              <a:rPr sz="2100" b="0">
                <a:solidFill>
                  <a:srgbClr val="CBD5E1"/>
                </a:solidFill>
                <a:latin typeface="Calibri"/>
              </a:rPr>
              <a:t>Deployment &amp; Infrastructure</a:t>
            </a:r>
          </a:p>
          <a:p>
            <a:pPr algn="ctr"/>
            <a:r>
              <a:rPr sz="1600" b="0">
                <a:solidFill>
                  <a:srgbClr val="94A3B8"/>
                </a:solidFill>
                <a:latin typeface="Calibri"/>
              </a:rPr>
              <a:t>How a notebook becomes a service that runs 24/7 for the internet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94A3B8"/>
                </a:solidFill>
                <a:latin typeface="Calibri"/>
              </a:rPr>
              <a:t>Mohamed Haitham  ·  University Presentation</a:t>
            </a:r>
          </a:p>
          <a:p>
            <a:pPr algn="ctr"/>
            <a:r>
              <a:rPr sz="1500">
                <a:solidFill>
                  <a:srgbClr val="94A3B8"/>
                </a:solidFill>
                <a:latin typeface="Calibri"/>
              </a:rPr>
              <a:t>Vercel · Render · Neon · HuggingFace · Groq · n8n · Docker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1">
                <a:solidFill>
                  <a:srgbClr val="0B3D2E"/>
                </a:solidFill>
                <a:latin typeface="Calibri"/>
              </a:rPr>
              <a:t>"It works on my laptop" is not a product.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•  In a notebook, I am the runtime: I open it, run the cells, watch the output — it stops when I close the lid.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•  localhost:3000 literally means "this computer, right here". Nobody else on Earth can reach it.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F59E0B"/>
                </a:solidFill>
                <a:latin typeface="Calibri"/>
              </a:rPr>
              <a:t>•  A model that only runs while I'm watching helps exactly one person — 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937760"/>
            <a:ext cx="11064240" cy="12801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4F46E5"/>
                </a:solidFill>
                <a:latin typeface="Calibri"/>
              </a:rPr>
              <a:t>Goal: </a:t>
            </a:r>
            <a:r>
              <a:rPr sz="1900">
                <a:solidFill>
                  <a:srgbClr val="334155"/>
                </a:solidFill>
                <a:latin typeface="Calibri"/>
              </a:rPr>
              <a:t>make the prediction reachable by anyone with a browser, always on, safe, and ship new versions without breaking the live 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What Deployment Even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0B3D2E"/>
                </a:solidFill>
                <a:latin typeface="Calibri"/>
              </a:rPr>
              <a:t>Analogy: cooking at home vs. opening a restaurant.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8308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59436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Cooking at home (notebook)</a:t>
                      </a:r>
                    </a:p>
                  </a:txBody>
                  <a:tcPr marL="73152" marR="73152" marT="27432" marB="27432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Opening a restaurant (deployment)</a:t>
                      </a:r>
                    </a:p>
                  </a:txBody>
                  <a:tcPr marL="73152" marR="73152" marT="27432" marB="27432" anchor="ctr">
                    <a:solidFill>
                      <a:srgbClr val="0B3D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B3D2E"/>
                          </a:solidFill>
                          <a:latin typeface="Calibri"/>
                        </a:rPr>
                        <a:t>Your private kitchen, set up your way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Calibri"/>
                        </a:rPr>
                        <a:t>A building on a public street = a HOST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B3D2E"/>
                          </a:solidFill>
                          <a:latin typeface="Calibri"/>
                        </a:rPr>
                        <a:t>You eat what you cook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Calibri"/>
                        </a:rPr>
                        <a:t>Strangers walk in and order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B3D2E"/>
                          </a:solidFill>
                          <a:latin typeface="Calibri"/>
                        </a:rPr>
                        <a:t>Closes when you sleep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Calibri"/>
                        </a:rPr>
                        <a:t>Open 24/7, no human watching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B3D2E"/>
                          </a:solidFill>
                          <a:latin typeface="Calibri"/>
                        </a:rPr>
                        <a:t>Burnt toast — only you know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Calibri"/>
                        </a:rPr>
                        <a:t>A crash is one EVERYONE sees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B3D2E"/>
                          </a:solidFill>
                          <a:latin typeface="Calibri"/>
                        </a:rPr>
                        <a:t>New dish whenever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334155"/>
                          </a:solidFill>
                          <a:latin typeface="Calibri"/>
                        </a:rPr>
                        <a:t>A safe way to roll out new dishes = CI/CD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34155"/>
                </a:solidFill>
                <a:latin typeface="Calibri"/>
              </a:rPr>
              <a:t>Host = a computer someone else runs, always on, public.   Production = the real live version;  dev = the private rehearsal.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The Deployment Topology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4892040" y="1280160"/>
            <a:ext cx="2377440" cy="64008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User's browser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2286000"/>
            <a:ext cx="2743200" cy="822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Vercel
Frontend (Next.js)
safeearth.tech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2286000"/>
            <a:ext cx="2743200" cy="8229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Render (free, Oregon)
FastAPI · uvicorn
/api/v1/*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703320"/>
            <a:ext cx="2468880" cy="77724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Neon
PostgreSQL
(managed DB)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3703320"/>
            <a:ext cx="2468880" cy="77724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HuggingFace
.pkl models
(pull at startup)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3703320"/>
            <a:ext cx="246888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B3D2E"/>
                </a:solidFill>
                <a:latin typeface="Calibri"/>
              </a:rPr>
              <a:t>Groq
LLM API
(RAG)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66760" y="3703320"/>
            <a:ext cx="2468880" cy="77724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Gmail / Resend
email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4800600"/>
            <a:ext cx="2743200" cy="7315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B3D2E"/>
                </a:solidFill>
                <a:latin typeface="Calibri"/>
              </a:rPr>
              <a:t>n8n (scheduled)
Mon 08:00 UTC →
POST /alerts/dispatch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87451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64748B"/>
                </a:solidFill>
                <a:latin typeface="Calibri"/>
              </a:rPr>
              <a:t>loads 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87451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64748B"/>
                </a:solidFill>
                <a:latin typeface="Calibri"/>
              </a:rPr>
              <a:t>API calls (JSON / HTTPS)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97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34155"/>
                </a:solidFill>
                <a:latin typeface="Calibri"/>
              </a:rPr>
              <a:t>Seven hosted pieces — each a different company's computer, in a different data center, free-tiered separately, connected only by network calls.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The Deployment Stack at a Glance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2471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4572000"/>
                <a:gridCol w="40233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Platform / Tool</a:t>
                      </a:r>
                    </a:p>
                  </a:txBody>
                  <a:tcPr marL="73152" marR="73152" marT="27432" marB="27432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What it hosts or does</a:t>
                      </a:r>
                    </a:p>
                  </a:txBody>
                  <a:tcPr marL="73152" marR="73152" marT="27432" marB="27432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Config in the repo</a:t>
                      </a:r>
                    </a:p>
                  </a:txBody>
                  <a:tcPr marL="73152" marR="73152" marT="27432" marB="27432" anchor="ctr">
                    <a:solidFill>
                      <a:srgbClr val="0B3D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3D2E"/>
                          </a:solidFill>
                          <a:latin typeface="Calibri"/>
                        </a:rPr>
                        <a:t>Vercel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The Next.js frontend (the website)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vercel.json · next.config.js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3D2E"/>
                          </a:solidFill>
                          <a:latin typeface="Calibri"/>
                        </a:rPr>
                        <a:t>Render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The FastAPI backend (the API) + n8n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render.yaml · render_build.sh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3D2E"/>
                          </a:solidFill>
                          <a:latin typeface="Calibri"/>
                        </a:rPr>
                        <a:t>Neon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Managed / serverless PostgreSQL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DATABASE_URL · alembic/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3D2E"/>
                          </a:solidFill>
                          <a:latin typeface="Calibri"/>
                        </a:rPr>
                        <a:t>HuggingFace Hub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Trained .pkl models, pulled at startup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ml/predictor.py · HUGGINGFACE_*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3D2E"/>
                          </a:solidFill>
                          <a:latin typeface="Calibri"/>
                        </a:rPr>
                        <a:t>Groq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External LLM API (recommendations)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rag/recommender.py · GROQ_API_KEY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3D2E"/>
                          </a:solidFill>
                          <a:latin typeface="Calibri"/>
                        </a:rPr>
                        <a:t>chapters.json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RAG knowledge base — built at deploy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rag/extract_chapters.py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3D2E"/>
                          </a:solidFill>
                          <a:latin typeface="Calibri"/>
                        </a:rPr>
                        <a:t>n8n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Self-hosted scheduled alert dispatch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n8n/weekly_dispatch.json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3D2E"/>
                          </a:solidFill>
                          <a:latin typeface="Calibri"/>
                        </a:rPr>
                        <a:t>Alembic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Runs DB migrations on each deploy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alembic.ini (in render_build.sh)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3D2E"/>
                          </a:solidFill>
                          <a:latin typeface="Calibri"/>
                        </a:rPr>
                        <a:t>Docker (local only)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Local Postgres for dev — NOT the host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docker-compose.yml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3D2E"/>
                          </a:solidFill>
                          <a:latin typeface="Calibri"/>
                        </a:rPr>
                        <a:t>Git auto-deploy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Push → both platforms rebuild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dashboards (no GitHub Actions)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4F46E5"/>
                </a:solidFill>
                <a:latin typeface="Calibri"/>
              </a:rPr>
              <a:t>COMPONENT 1
</a:t>
            </a:r>
            <a:r>
              <a:rPr sz="2800" b="1">
                <a:solidFill>
                  <a:srgbClr val="FFFFFF"/>
                </a:solidFill>
                <a:latin typeface="Calibri"/>
              </a:rPr>
              <a:t>Frontend Hosting (Vercel)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0B3D2E"/>
                </a:solidFill>
                <a:latin typeface="Calibri"/>
              </a:rPr>
              <a:t>A host for your website. A PaaS — like Colab/Deepnote, but for sites: hand it code, it builds + serves + HTTPS-es.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38528"/>
            <a:ext cx="11064240" cy="621792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29968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7EE7B0"/>
                </a:solidFill>
                <a:latin typeface="Consolas"/>
              </a:rPr>
              <a:t>{ "rootDirectory": "frontend", "framework": "nextjs"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61488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vercel.json → { rootDirectory: "frontend", framework: "nextjs" }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Vercel runs npm install → npm run build (next build) → serves .next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Why: Vercel makes Next.js — zero-config, free Hobby tier, global CDN, auto-HTTPS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230368"/>
            <a:ext cx="11064240" cy="603504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28523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9E0B"/>
                </a:solidFill>
                <a:latin typeface="Calibri"/>
              </a:rPr>
              <a:t>Honest note:  </a:t>
            </a:r>
            <a:r>
              <a:rPr sz="1300">
                <a:solidFill>
                  <a:srgbClr val="334155"/>
                </a:solidFill>
                <a:latin typeface="Calibri"/>
              </a:rPr>
              <a:t>.env.production points at the raw Render URL (safeearth-backend.onrender.com), not the intended api.safeearth.tech — one line to swap.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943600"/>
            <a:ext cx="11064240" cy="60350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01675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F46E5"/>
                </a:solidFill>
                <a:latin typeface="Calibri"/>
              </a:rPr>
              <a:t>Chose over: </a:t>
            </a:r>
            <a:r>
              <a:rPr sz="1400">
                <a:solidFill>
                  <a:srgbClr val="334155"/>
                </a:solidFill>
                <a:latin typeface="Calibri"/>
              </a:rPr>
              <a:t>Netlify (Next.js server features lag), Cloudflare Pages (edge-only runtime), self-host (you babysit a Linux box + SSL).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4F46E5"/>
                </a:solidFill>
                <a:latin typeface="Calibri"/>
              </a:rPr>
              <a:t>COMPONENT 2
</a:t>
            </a:r>
            <a:r>
              <a:rPr sz="2800" b="1">
                <a:solidFill>
                  <a:srgbClr val="FFFFFF"/>
                </a:solidFill>
                <a:latin typeface="Calibri"/>
              </a:rPr>
              <a:t>Backend Hosting (Render)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0B3D2E"/>
                </a:solidFill>
                <a:latin typeface="Calibri"/>
              </a:rPr>
              <a:t>A host for your API — the Python program that does the real work. Render runs it for you and restarts it if it crashes.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38528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startCommand: uvicorn main:app --host 0.0.0.0 --port $PORT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–  --host 0.0.0.0 = accept connections from anywhere (laptop default is localhost-only)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–  --port $PORT = the host assigns the port; READ it, don't hardcode 8000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buildCommand runs render_build.sh: install · gen JSON · chapters.json · alembic upgrade head · seed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•  Free tier SLEEPS after ~15 min idle → 30-60s cold start; UptimeRobot pings /health every 14 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943600"/>
            <a:ext cx="11064240" cy="60350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01675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F46E5"/>
                </a:solidFill>
                <a:latin typeface="Calibri"/>
              </a:rPr>
              <a:t>Chose over: </a:t>
            </a:r>
            <a:r>
              <a:rPr sz="1400">
                <a:solidFill>
                  <a:srgbClr val="334155"/>
                </a:solidFill>
                <a:latin typeface="Calibri"/>
              </a:rPr>
              <a:t>Railway (time-limited credits), Fly.io (Docker curve), AWS (DevOps wall), bare VPS (you own the OS + SSL).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4F46E5"/>
                </a:solidFill>
                <a:latin typeface="Calibri"/>
              </a:rPr>
              <a:t>COMPONENT 3
</a:t>
            </a:r>
            <a:r>
              <a:rPr sz="2800" b="1">
                <a:solidFill>
                  <a:srgbClr val="FFFFFF"/>
                </a:solidFill>
                <a:latin typeface="Calibri"/>
              </a:rPr>
              <a:t>Managed Database (Neon Postgres)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0B3D2E"/>
                </a:solidFill>
                <a:latin typeface="Calibri"/>
              </a:rPr>
              <a:t>A live, concurrent data store — not a dead CSV. Managed = someone else runs the DB server; you just get a connection string.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38528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One env var: DATABASE_URL=postgresql+asyncpg://user:pass@host:5432/safeearth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In render.yaml it's sync:false → the real string is pasted in the dashboard, never in git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Local dev uses the SAME Postgres 15 via Docker (docker-compose.yml)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Why a DB not a CSV: a CSV can't do safe concurrent writes and dies on host restart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943600"/>
            <a:ext cx="11064240" cy="60350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01675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F46E5"/>
                </a:solidFill>
                <a:latin typeface="Calibri"/>
              </a:rPr>
              <a:t>Chose over: </a:t>
            </a:r>
            <a:r>
              <a:rPr sz="1400">
                <a:solidFill>
                  <a:srgbClr val="334155"/>
                </a:solidFill>
                <a:latin typeface="Calibri"/>
              </a:rPr>
              <a:t>Supabase (bundles auth/storage we don't need), AWS RDS (no lasting free tier), self-managed Postgres (you own backups + the 2 a.m. page).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4F46E5"/>
                </a:solidFill>
                <a:latin typeface="Calibri"/>
              </a:rPr>
              <a:t>COMPONENT 4
</a:t>
            </a:r>
            <a:r>
              <a:rPr sz="2800" b="1">
                <a:solidFill>
                  <a:srgbClr val="FFFFFF"/>
                </a:solidFill>
                <a:latin typeface="Calibri"/>
              </a:rPr>
              <a:t>Model Hosting (HuggingFace Hub)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0B3D2E"/>
                </a:solidFill>
                <a:latin typeface="Calibri"/>
              </a:rPr>
              <a:t>"GitHub for models" — a store built for large model files. The .pkl's live here, NOT in the git repo.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38528"/>
            <a:ext cx="11064240" cy="1353312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29968"/>
            <a:ext cx="107899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7EE7B0"/>
                </a:solidFill>
                <a:latin typeface="Consolas"/>
              </a:rPr>
              <a:t>hf_hub_download(repo_id=repo_id, filename=filename,</a:t>
            </a:r>
          </a:p>
          <a:p>
            <a:r>
              <a:rPr sz="1300">
                <a:solidFill>
                  <a:srgbClr val="7EE7B0"/>
                </a:solidFill>
                <a:latin typeface="Consolas"/>
              </a:rPr>
              <a:t>                local_dir=str(saved_models_dir),</a:t>
            </a:r>
          </a:p>
          <a:p>
            <a:r>
              <a:rPr sz="1300">
                <a:solidFill>
                  <a:srgbClr val="7EE7B0"/>
                </a:solidFill>
                <a:latin typeface="Consolas"/>
              </a:rPr>
              <a:t>                token=token or None)   # None = public repo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93008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Why not git: history is forever + binaries diff poorly; a 50-100 MB pkl bloats every clone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At startup the app downloads the 2 pkl's via hf_hub_download (HUGGINGFACE_REPO_ID/TOKEN)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•  Memory trick: the 109 MB SHAP explainer is REBUILT from the in-RAM model, not downloaded (~300 MB saved)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230368"/>
            <a:ext cx="11064240" cy="603504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28523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9E0B"/>
                </a:solidFill>
                <a:latin typeface="Calibri"/>
              </a:rPr>
              <a:t>Honest note:  </a:t>
            </a:r>
            <a:r>
              <a:rPr sz="1300">
                <a:solidFill>
                  <a:srgbClr val="334155"/>
                </a:solidFill>
                <a:latin typeface="Calibri"/>
              </a:rPr>
              <a:t>The HF repo must be PUBLIC, or the startup download 401s on Render. Keeping it public sidesteps that.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943600"/>
            <a:ext cx="11064240" cy="60350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01675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F46E5"/>
                </a:solidFill>
                <a:latin typeface="Calibri"/>
              </a:rPr>
              <a:t>Chose over: </a:t>
            </a:r>
            <a:r>
              <a:rPr sz="1400">
                <a:solidFill>
                  <a:srgbClr val="334155"/>
                </a:solidFill>
                <a:latin typeface="Calibri"/>
              </a:rPr>
              <a:t>bundling in git/image (repo bloat, LFS pain), S3 / R2 / GCS (the 'real' answer, but you manage buckets + IAM keys).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4F46E5"/>
                </a:solidFill>
                <a:latin typeface="Calibri"/>
              </a:rPr>
              <a:t>COMPONENT 5
</a:t>
            </a:r>
            <a:r>
              <a:rPr sz="2800" b="1">
                <a:solidFill>
                  <a:srgbClr val="FFFFFF"/>
                </a:solidFill>
                <a:latin typeface="Calibri"/>
              </a:rPr>
              <a:t>LLM API (Groq) + an Honest Pivot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0B3D2E"/>
                </a:solidFill>
                <a:latin typeface="Calibri"/>
              </a:rPr>
              <a:t>An external API dependency — a feature you rent. Recommendations are written by Groq's llama-3.1-8b-instant; the API key is a secret.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38528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•  Degrade-not-fail: Groq down/empty/malformed → fall back to a seeded recommendations DB table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0B3D2E"/>
                </a:solidFill>
                <a:latin typeface="Calibri"/>
              </a:rPr>
              <a:t>•  The pivot — where the 'vector store' went: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–  Original: ChromaDB + sentence-transformers embeddings → pulls in PyTorch (~2 GB) → OOM on 512 MB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–  Now: build-time extract_chapters.py (PyMuPDF) → chapters.json; runtime = dict lookup → Groq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–  No embeddings, no vector DB, nothing extra to host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943600"/>
            <a:ext cx="11064240" cy="60350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01675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F46E5"/>
                </a:solidFill>
                <a:latin typeface="Calibri"/>
              </a:rPr>
              <a:t>Chose over: </a:t>
            </a:r>
            <a:r>
              <a:rPr sz="1400">
                <a:solidFill>
                  <a:srgbClr val="334155"/>
                </a:solidFill>
                <a:latin typeface="Calibri"/>
              </a:rPr>
              <a:t>OpenAI / Anthropic (paid + slower for tiny tasks), self-hosted LLM (needs a GPU — impossible at 512 MB), full vector RAG (the OOM we just hit).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4F46E5"/>
                </a:solidFill>
                <a:latin typeface="Calibri"/>
              </a:rPr>
              <a:t>COMPONENT 6
</a:t>
            </a:r>
            <a:r>
              <a:rPr sz="2800" b="1">
                <a:solidFill>
                  <a:srgbClr val="FFFFFF"/>
                </a:solidFill>
                <a:latin typeface="Calibri"/>
              </a:rPr>
              <a:t>Automation / Scheduled Jobs (n8n)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0B3D2E"/>
                </a:solidFill>
                <a:latin typeface="Calibri"/>
              </a:rPr>
              <a:t>Work that runs on a timer, not when a user clicks. n8n = "visual cron with a UI", running as its own always-on service.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38528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weekly_dispatch.json: [Schedule cron "0 8 * * 1"] → [HTTP POST /api/v1/alerts/dispatch]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•  Architecture rule: n8n is ONLY a trigger — FastAPI does all fan-out + email. n8n just rings the doorbell.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X-Dispatch-Secret = a shared password (ALERT_DISPATCH_SECRET) so a stranger can't trigger a mass email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943600"/>
            <a:ext cx="11064240" cy="60350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01675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F46E5"/>
                </a:solidFill>
                <a:latin typeface="Calibri"/>
              </a:rPr>
              <a:t>Chose over: </a:t>
            </a:r>
            <a:r>
              <a:rPr sz="1400">
                <a:solidFill>
                  <a:srgbClr val="334155"/>
                </a:solidFill>
                <a:latin typeface="Calibri"/>
              </a:rPr>
              <a:t>OS cron (needs an always-on box — Render's free service sleeps), GitHub Actions schedule (best-effort timing), Celery + Redis (real infra, out of scope for v1).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4F46E5"/>
                </a:solidFill>
                <a:latin typeface="Calibri"/>
              </a:rPr>
              <a:t>COMPONENT 7
</a:t>
            </a:r>
            <a:r>
              <a:rPr sz="2800" b="1">
                <a:solidFill>
                  <a:srgbClr val="FFFFFF"/>
                </a:solidFill>
                <a:latin typeface="Calibri"/>
              </a:rPr>
              <a:t>Environment Variables &amp; Secrets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0B3D2E"/>
                </a:solidFill>
                <a:latin typeface="Calibri"/>
              </a:rPr>
              <a:t>Config handed to the program from OUTSIDE the code at startup. A secret = a sensitive one (password, API key).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38528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•  Why never in git: history is forever — commit a key, delete it next commit, it's STILL in history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.env.example is committed as a &lt;fill_me&gt; template; the real .env is gitignored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Render: value: (non-secret config) · sync:false (paste in dashboard) · generateValue (Render invents a random)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Vercel: dashboard vars; NEXT_PUBLIC_ prefix = a deliberate opt-in for anything the browser may see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943600"/>
            <a:ext cx="11064240" cy="60350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01675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F46E5"/>
                </a:solidFill>
                <a:latin typeface="Calibri"/>
              </a:rPr>
              <a:t>Chose over: </a:t>
            </a:r>
            <a:r>
              <a:rPr sz="1400">
                <a:solidFill>
                  <a:srgbClr val="334155"/>
                </a:solidFill>
                <a:latin typeface="Calibri"/>
              </a:rPr>
              <a:t>hardcoding config in source — leaks secrets into git history and ties every environment to one set of values.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4F46E5"/>
                </a:solidFill>
                <a:latin typeface="Calibri"/>
              </a:rPr>
              <a:t>COMPONENT 8
</a:t>
            </a:r>
            <a:r>
              <a:rPr sz="2800" b="1">
                <a:solidFill>
                  <a:srgbClr val="FFFFFF"/>
                </a:solidFill>
                <a:latin typeface="Calibri"/>
              </a:rPr>
              <a:t>CI/CD &amp; Git-based Deploys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0B3D2E"/>
                </a:solidFill>
                <a:latin typeface="Calibri"/>
              </a:rPr>
              <a:t>"When I push to GitHub, the right things happen automatically." DS analogy: an automated pipeline, like scheduled retraining — but it ships the 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38528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No .github/workflows — this project does NOT use GitHub Actions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It uses the platforms' built-in git auto-deploy: push to main → Render AND Vercel rebuild + redeploy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Vercel preview deploys: every branch/PR gets its own temporary URL to click before merging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•  Owned trade-off: no cloud test gate — the ~190 pytest tests run LOCALLY, not in CI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943600"/>
            <a:ext cx="11064240" cy="60350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01675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F46E5"/>
                </a:solidFill>
                <a:latin typeface="Calibri"/>
              </a:rPr>
              <a:t>Chose over: </a:t>
            </a:r>
            <a:r>
              <a:rPr sz="1400">
                <a:solidFill>
                  <a:srgbClr val="334155"/>
                </a:solidFill>
                <a:latin typeface="Calibri"/>
              </a:rPr>
              <a:t>a full GitHub Actions test-gated pipeline — simpler git auto-deploy is enough for a portfolio; the CI gate is named future 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4F46E5"/>
                </a:solidFill>
                <a:latin typeface="Calibri"/>
              </a:rPr>
              <a:t>COMPONENT 9
</a:t>
            </a:r>
            <a:r>
              <a:rPr sz="2800" b="1">
                <a:solidFill>
                  <a:srgbClr val="FFFFFF"/>
                </a:solidFill>
                <a:latin typeface="Calibri"/>
              </a:rPr>
              <a:t>Database Migrations (Alembic)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0B3D2E"/>
                </a:solidFill>
                <a:latin typeface="Calibri"/>
              </a:rPr>
              <a:t>A migration = a versioned, reversible script that changes the DB schema safely. Git, but for your database's shape.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38528"/>
            <a:ext cx="11064240" cy="621792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29968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7EE7B0"/>
                </a:solidFill>
                <a:latin typeface="Consolas"/>
              </a:rPr>
              <a:t>alembic upgrade head   # apply every migration up to the latest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61488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•  Why not hand-edit the live DB: hand-edits are unrepeatable, untracked, irreversible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On EVERY deploy, render_build.sh runs: alembic upgrade head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Brings prod schema up to date BEFORE the new code starts; idempotent (no-op if already current)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New column? Write a migration, push — the deploy applies it. You never touch the live DB by hand.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43600"/>
            <a:ext cx="11064240" cy="60350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01675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F46E5"/>
                </a:solidFill>
                <a:latin typeface="Calibri"/>
              </a:rPr>
              <a:t>Chose over: </a:t>
            </a:r>
            <a:r>
              <a:rPr sz="1400">
                <a:solidFill>
                  <a:srgbClr val="334155"/>
                </a:solidFill>
                <a:latin typeface="Calibri"/>
              </a:rPr>
              <a:t>manual SQL on the production database — unrepeatable, unreviewable, and impossible to roll back cleanly.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4F46E5"/>
                </a:solidFill>
                <a:latin typeface="Calibri"/>
              </a:rPr>
              <a:t>COMPONENT 10
</a:t>
            </a:r>
            <a:r>
              <a:rPr sz="2800" b="1">
                <a:solidFill>
                  <a:srgbClr val="FFFFFF"/>
                </a:solidFill>
                <a:latin typeface="Calibri"/>
              </a:rPr>
              <a:t>CORS, Containers &amp; HTTPS (the glue)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B3D2E"/>
                </a:solidFill>
                <a:latin typeface="Calibri"/>
              </a:rPr>
              <a:t>•  CORS — why two domains need a permission slip: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–  Browsers block JS on safeearth.tech from calling a different origin (...onrender.com) by default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–  The backend posts a 'this origin is welcome' sign: CORSMiddleware reads the CORS_ORIGINS env var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F59E0B"/>
                </a:solidFill>
                <a:latin typeface="Calibri"/>
              </a:rPr>
              <a:t>–  Forget it → every browser call fails, but curl works (classic first-deploy gotcha)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B3D2E"/>
                </a:solidFill>
                <a:latin typeface="Calibri"/>
              </a:rPr>
              <a:t>•  Containers (Docker) — used locally, deliberately NOT to host the app: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–  A container = a frozen conda env that also includes the OS — runs identically anywhere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–  The only Docker here is docker-compose.yml → one local PostgreSQL for dev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–  The app uses Render's native Python buildpack, not a Dockerfile — less to maintain for one service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B3D2E"/>
                </a:solidFill>
                <a:latin typeface="Calibri"/>
              </a:rPr>
              <a:t>•  Domains &amp; HTTPS — Vercel and Render issue + renew SSL certificates automatically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–  Add the domain, point DNS, and the padlock just works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4F46E5"/>
                </a:solidFill>
                <a:latin typeface="Calibri"/>
              </a:rPr>
              <a:t>THE MONEY SLIDE
</a:t>
            </a:r>
            <a:r>
              <a:rPr sz="2800" b="1">
                <a:solidFill>
                  <a:srgbClr val="FFFFFF"/>
                </a:solidFill>
                <a:latin typeface="Calibri"/>
              </a:rPr>
              <a:t>One Deploy,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2E"/>
                </a:solidFill>
                <a:latin typeface="Consolas"/>
              </a:rPr>
              <a:t>git push origin main</a:t>
            </a:r>
            <a:r>
              <a:rPr sz="1600">
                <a:solidFill>
                  <a:srgbClr val="334155"/>
                </a:solidFill>
                <a:latin typeface="Calibri"/>
              </a:rPr>
              <a:t>   →   a user feels the change. Nine automated cloud steps: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55648"/>
            <a:ext cx="457200" cy="3840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719072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B3D2E"/>
                </a:solidFill>
                <a:latin typeface="Calibri"/>
              </a:rPr>
              <a:t>You push  —  </a:t>
            </a:r>
            <a:r>
              <a:rPr sz="1250">
                <a:solidFill>
                  <a:srgbClr val="334155"/>
                </a:solidFill>
                <a:latin typeface="Calibri"/>
              </a:rPr>
              <a:t>one command IS the whole deploy — no SSH, no file copy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12848"/>
            <a:ext cx="457200" cy="3840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176272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B3D2E"/>
                </a:solidFill>
                <a:latin typeface="Calibri"/>
              </a:rPr>
              <a:t>GitHub notifies both hosts  —  </a:t>
            </a:r>
            <a:r>
              <a:rPr sz="1250">
                <a:solidFill>
                  <a:srgbClr val="334155"/>
                </a:solidFill>
                <a:latin typeface="Calibri"/>
              </a:rPr>
              <a:t>webhooks fire Render AND Vercel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70048"/>
            <a:ext cx="457200" cy="3840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633472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B3D2E"/>
                </a:solidFill>
                <a:latin typeface="Calibri"/>
              </a:rPr>
              <a:t>Render builds backend  —  </a:t>
            </a:r>
            <a:r>
              <a:rPr sz="1250">
                <a:solidFill>
                  <a:srgbClr val="334155"/>
                </a:solidFill>
                <a:latin typeface="Calibri"/>
              </a:rPr>
              <a:t>render_build.sh: deps · EM-DAT JSON · chapters.json · alembic upgrade head · seed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127248"/>
            <a:ext cx="457200" cy="3840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108960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090672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B3D2E"/>
                </a:solidFill>
                <a:latin typeface="Calibri"/>
              </a:rPr>
              <a:t>Render starts backend  —  </a:t>
            </a:r>
            <a:r>
              <a:rPr sz="1250">
                <a:solidFill>
                  <a:srgbClr val="334155"/>
                </a:solidFill>
                <a:latin typeface="Calibri"/>
              </a:rPr>
              <a:t>uvicorn ...; lifespan downloads models from HuggingFace, loads chapters.json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584448"/>
            <a:ext cx="457200" cy="3840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566160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547872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B3D2E"/>
                </a:solidFill>
                <a:latin typeface="Calibri"/>
              </a:rPr>
              <a:t>Health gate  —  </a:t>
            </a:r>
            <a:r>
              <a:rPr sz="1250">
                <a:solidFill>
                  <a:srgbClr val="334155"/>
                </a:solidFill>
                <a:latin typeface="Calibri"/>
              </a:rPr>
              <a:t>Render hits /api/v1/health — only models_loaded:true switches traffic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041648"/>
            <a:ext cx="457200" cy="3840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023360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005072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B3D2E"/>
                </a:solidFill>
                <a:latin typeface="Calibri"/>
              </a:rPr>
              <a:t>Vercel builds frontend  —  </a:t>
            </a:r>
            <a:r>
              <a:rPr sz="1250">
                <a:solidFill>
                  <a:srgbClr val="334155"/>
                </a:solidFill>
                <a:latin typeface="Calibri"/>
              </a:rPr>
              <a:t>npm install &amp;&amp; npm run build → push .next to the global CDN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498848"/>
            <a:ext cx="457200" cy="3840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480560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462272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B3D2E"/>
                </a:solidFill>
                <a:latin typeface="Calibri"/>
              </a:rPr>
              <a:t>User loads safeearth.tech  —  </a:t>
            </a:r>
            <a:r>
              <a:rPr sz="1250">
                <a:solidFill>
                  <a:srgbClr val="334155"/>
                </a:solidFill>
                <a:latin typeface="Calibri"/>
              </a:rPr>
              <a:t>served by Vercel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956048"/>
            <a:ext cx="457200" cy="3840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937760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919472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B3D2E"/>
                </a:solidFill>
                <a:latin typeface="Calibri"/>
              </a:rPr>
              <a:t>Browser calls the backend  —  </a:t>
            </a:r>
            <a:r>
              <a:rPr sz="1250">
                <a:solidFill>
                  <a:srgbClr val="334155"/>
                </a:solidFill>
                <a:latin typeface="Calibri"/>
              </a:rPr>
              <a:t>...onrender.com/api/v1/... — allowed by CORS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413248"/>
            <a:ext cx="457200" cy="3840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394960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376672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B3D2E"/>
                </a:solidFill>
                <a:latin typeface="Calibri"/>
              </a:rPr>
              <a:t>Backend reads/writes Neon, replies  —  </a:t>
            </a:r>
            <a:r>
              <a:rPr sz="1250">
                <a:solidFill>
                  <a:srgbClr val="334155"/>
                </a:solidFill>
                <a:latin typeface="Calibri"/>
              </a:rPr>
              <a:t>all running the new code — the user never knew a deploy happened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6A34A"/>
                </a:solidFill>
                <a:latin typeface="Calibri"/>
              </a:rPr>
              <a:t>I changed one line and typed git push — nine steps across five services happened on their own. THAT automation is what "deployed" means.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Key Decisions &amp; Trade-offs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743200"/>
                <a:gridCol w="2468880"/>
                <a:gridCol w="39319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73152" marR="73152" marT="27432" marB="27432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Chosen</a:t>
                      </a:r>
                    </a:p>
                  </a:txBody>
                  <a:tcPr marL="73152" marR="73152" marT="27432" marB="27432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Over</a:t>
                      </a:r>
                    </a:p>
                  </a:txBody>
                  <a:tcPr marL="73152" marR="73152" marT="27432" marB="27432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73152" marR="73152" marT="27432" marB="27432" anchor="ctr">
                    <a:solidFill>
                      <a:srgbClr val="0B3D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Frontend host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Vercel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Netlify / CF / VPS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Makes Next.js; free CDN + HTTPS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Backend host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Render (free)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Railway / Fly / AWS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Long-lived Python + IaC, free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Neon Postgres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Supabase / RDS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Serverless, scales to zero, free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Models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HuggingFace Hub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In-git / S3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Built for models; pull at startup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RAG retrieval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Chapter JSON + Groq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ChromaDB vectors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PyTorch (~2 GB) OOM'd 512 MB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Scheduling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n8n (trigger-only)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cron / GH Actions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Free, survives the sleeping app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CI/CD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Git auto-deploy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GH Actions gate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Simplest path; gate is future work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Containers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Buildpack (app)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Dockerfile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Less to maintain for one service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3D2E"/>
                </a:solidFill>
                <a:latin typeface="Calibri"/>
              </a:rPr>
              <a:t>Maturity isn't 'I used the trendiest tool' — it's 'I matched tools to a single-dev, zero-cost, 512 MB constraint, and I know what I traded.'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Challenges I Solved (Deployment Edition)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512 MB RAM ceiling → dropped PyTorch/ChromaDB RAG for build-time chapters.json; rebuilt SHAP from the in-memory model (~300 MB saved)</a:t>
            </a:r>
          </a:p>
          <a:p>
            <a:pPr>
              <a:spcAft>
                <a:spcPts val="15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Big models vs git → .pkl's live on HuggingFace, downloaded at startup; the repo stays light</a:t>
            </a:r>
          </a:p>
          <a:p>
            <a:pPr>
              <a:spcAft>
                <a:spcPts val="15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Free-tier cold starts → UptimeRobot pings /api/v1/health every 14 minutes to keep Render awake</a:t>
            </a:r>
          </a:p>
          <a:p>
            <a:pPr>
              <a:spcAft>
                <a:spcPts val="15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Secrets across 3 dashboards → one .env.example template; sync:false / generateValue; NEXT_PUBLIC_ opt-in</a:t>
            </a:r>
          </a:p>
          <a:p>
            <a:pPr>
              <a:spcAft>
                <a:spcPts val="15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Schema changes on a live DB → alembic upgrade head baked into the build script, never a manual edit</a:t>
            </a:r>
          </a:p>
          <a:p>
            <a:pPr>
              <a:spcAft>
                <a:spcPts val="15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Cross-origin calls → an explicit CORS_ORIGINS allowlist read by CORSMiddleware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64748B"/>
                </a:solidFill>
                <a:latin typeface="Calibri"/>
              </a:rPr>
              <a:t>The through-line: almost every challenge traces back to the free-tier RAM/sleep limits. Constraints drove the architecture.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Honest Engineering: Portfolio vs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6A34A"/>
                </a:solidFill>
                <a:latin typeface="Calibri"/>
              </a:rPr>
              <a:t>Production-grade here: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Infrastructure-as-code (render.yaml, vercel.json) · migrations on every deploy · health-checked rollouts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Graceful LLM degradation · secrets never in git · automatic HTTPS · same Postgres locally and in prod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9E0B"/>
                </a:solidFill>
                <a:latin typeface="Calibri"/>
              </a:rPr>
              <a:t>Conscious free-tier shortcuts (each with an upgrade path):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Backend sleeps &amp; cold-starts → a ~$7/mo tier removes it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512 MB RAM forced the simplified RAG → a larger tier brings vector search back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No cloud test gate before deploy → add a GitHub Actions CI job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.env.production points at the raw Render URL → swap to api.safeearth.tech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806440"/>
            <a:ext cx="11064240" cy="685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1">
                <a:solidFill>
                  <a:srgbClr val="0B3D2E"/>
                </a:solidFill>
                <a:latin typeface="Calibri"/>
              </a:rPr>
              <a:t>Knowing what you traded away is the engineering — not a weakness.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800" b="1">
                <a:solidFill>
                  <a:srgbClr val="16A34A"/>
                </a:solidFill>
                <a:latin typeface="Calibri"/>
              </a:rPr>
              <a:t>•  Live in production: safeearth.tech (Vercel) ↔ FastAPI backend (Render) ↔ Neon Postgres</a:t>
            </a:r>
          </a:p>
          <a:p>
            <a:pPr>
              <a:spcAft>
                <a:spcPts val="15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Seven coordinated cloud services — each free-tier, each declared as config in the repo</a:t>
            </a:r>
          </a:p>
          <a:p>
            <a:pPr>
              <a:spcAft>
                <a:spcPts val="15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One-command deploys: git push → automatic build + migrate + ship on both hosts</a:t>
            </a:r>
          </a:p>
          <a:p>
            <a:pPr>
              <a:spcAft>
                <a:spcPts val="15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Self-healing rollouts: health-checked startup, models auto-pulled from HuggingFace</a:t>
            </a:r>
          </a:p>
          <a:p>
            <a:pPr>
              <a:spcAft>
                <a:spcPts val="15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Resilient by design: an LLM failure falls back to the DB — a hiccup never takes down predictions</a:t>
            </a:r>
          </a:p>
          <a:p>
            <a:pPr>
              <a:spcAft>
                <a:spcPts val="15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Kept awake &amp; observable: /api/v1/health reports models_loaded + rag_loaded; UptimeRobot watches it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</a:pPr>
            <a:r>
              <a:rPr sz="1900" b="0">
                <a:solidFill>
                  <a:srgbClr val="334155"/>
                </a:solidFill>
                <a:latin typeface="Calibri"/>
              </a:rPr>
              <a:t>•  Pay off the free tier: upgrade Render to kill cold starts + raise RAM; re-introduce vector RAG for finer retrieval</a:t>
            </a:r>
          </a:p>
          <a:p>
            <a:pPr>
              <a:spcAft>
                <a:spcPts val="1700"/>
              </a:spcAft>
            </a:pPr>
            <a:r>
              <a:rPr sz="1900" b="0">
                <a:solidFill>
                  <a:srgbClr val="334155"/>
                </a:solidFill>
                <a:latin typeface="Calibri"/>
              </a:rPr>
              <a:t>•  Add a real CI gate: GitHub Actions runs ~190 pytest tests + the frontend build, and BLOCKS deploys on failure</a:t>
            </a:r>
          </a:p>
          <a:p>
            <a:pPr>
              <a:spcAft>
                <a:spcPts val="1700"/>
              </a:spcAft>
            </a:pPr>
            <a:r>
              <a:rPr sz="1900" b="0">
                <a:solidFill>
                  <a:srgbClr val="334155"/>
                </a:solidFill>
                <a:latin typeface="Calibri"/>
              </a:rPr>
              <a:t>•  Attach custom domains end-to-end: api.safeearth.tech for the backend; update .env.production</a:t>
            </a:r>
          </a:p>
          <a:p>
            <a:pPr>
              <a:spcAft>
                <a:spcPts val="1700"/>
              </a:spcAft>
            </a:pPr>
            <a:r>
              <a:rPr sz="1900" b="0">
                <a:solidFill>
                  <a:srgbClr val="334155"/>
                </a:solidFill>
                <a:latin typeface="Calibri"/>
              </a:rPr>
              <a:t>•  Harden observability: structured logs + error tracking (e.g. Sentry) instead of dashboard log-reading</a:t>
            </a:r>
          </a:p>
          <a:p>
            <a:pPr>
              <a:spcAft>
                <a:spcPts val="1700"/>
              </a:spcAft>
            </a:pPr>
            <a:r>
              <a:rPr sz="1900" b="0">
                <a:solidFill>
                  <a:srgbClr val="334155"/>
                </a:solidFill>
                <a:latin typeface="Calibri"/>
              </a:rPr>
              <a:t>•  Containerize the backend (Dockerfile) for bit-for-bit portability if it outgrows Render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64748B"/>
                </a:solidFill>
                <a:latin typeface="Calibri"/>
              </a:rPr>
              <a:t>Every item maps directly to a trade-off named earlier — the shortcuts were conscious, with a known path forward.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2000" b="1">
                <a:solidFill>
                  <a:srgbClr val="0B3D2E"/>
                </a:solidFill>
                <a:latin typeface="Calibri"/>
              </a:rPr>
              <a:t>•  Deployment = model.predict() made always-on, public, and self-shipping for strangers.</a:t>
            </a:r>
          </a:p>
          <a:p>
            <a:pPr>
              <a:spcAft>
                <a:spcPts val="20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•  SafeEarth runs as seven free-tier cloud services, wired together and declared as code.</a:t>
            </a:r>
          </a:p>
          <a:p>
            <a:pPr>
              <a:spcAft>
                <a:spcPts val="20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•  The 512 MB / sleeping free tier was the dominant constraint — and it DROVE the architecture.</a:t>
            </a:r>
          </a:p>
          <a:p>
            <a:pPr>
              <a:spcAft>
                <a:spcPts val="20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•  Resilience + migrations are non-negotiable: graceful fallback and schema-as-code keep the live system safe.</a:t>
            </a:r>
          </a:p>
          <a:p>
            <a:pPr>
              <a:spcAft>
                <a:spcPts val="20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•  Every trade-off was deliberate, documented, and reversible.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The Data-Scientist Translation Table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188720"/>
          <a:ext cx="10515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658368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Deployment concept</a:t>
                      </a:r>
                    </a:p>
                  </a:txBody>
                  <a:tcPr marL="73152" marR="73152" marT="27432" marB="27432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Closest data-science equivalent</a:t>
                      </a:r>
                    </a:p>
                  </a:txBody>
                  <a:tcPr marL="73152" marR="73152" marT="27432" marB="27432" anchor="ctr">
                    <a:solidFill>
                      <a:srgbClr val="0B3D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Deploying an app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Turning a notebook model into a callable endpoint anyone can hit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Host / server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A remote machine running your code 24/7 vs. your watched laptop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localhost vs. production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A scratch experiment vs. the published result others depend 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Environment variables / secrets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Config + API keys kept OUT of a shared notebook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.env.example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A requirements.txt, but for which secrets to provide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CI/CD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An automated pipeline that rebuilds + ships on every change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Container (Docker)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A frozen conda env that runs identically anywhere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Managed database (Neon)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A hosted, concurrent data store vs. a local CSV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Migration (Alembic)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A tracked, re-runnable transform for your schema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Model hosting (HuggingFace)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A model registry instead of a .pkl in your repo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Cold start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A kernel that shut down on idle and must re-import everything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Health check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assert models_loaded — proof the pipeline initialized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Calibri"/>
              </a:rPr>
              <a:t>Thank You  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F46E5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94A3B8"/>
                </a:solidFill>
                <a:latin typeface="Calibri"/>
              </a:rPr>
              <a:t>SafeEarth Intelligence — Vercel · Render · Neon · HuggingFace · Groq · n8n</a:t>
            </a:r>
          </a:p>
          <a:p>
            <a:pPr algn="ctr"/>
            <a:r>
              <a:rPr sz="1500">
                <a:solidFill>
                  <a:srgbClr val="94A3B8"/>
                </a:solidFill>
                <a:latin typeface="Calibri"/>
              </a:rPr>
              <a:t>Full deep-dive: docs/DEPLOYMENT_EXPLAINED.md  ·  Script: docs/DEPLOYMENT_PITCH_DECK.md</a:t>
            </a:r>
          </a:p>
          <a:p>
            <a:pPr algn="ctr"/>
            <a:r>
              <a:rPr sz="1500">
                <a:solidFill>
                  <a:srgbClr val="94A3B8"/>
                </a:solidFill>
                <a:latin typeface="Calibri"/>
              </a:rPr>
              <a:t>safeearth.tech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