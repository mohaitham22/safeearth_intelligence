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Thesis of this talk: I'll give the real per-model numbers, then argue precisely WHY they sit where they do — and show that the headline macro-F1 is inflated by a train/test leak I found and quantified. Every number is from this project's own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them the spine is honesty: real numbers, negative results, a self-found leak, and a concrete bias-vs-variance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SVM/SVR/KNN were named in the brief but never built — given LogReg's collapse, a kernel SVM is unlikely to beat trees and scales badly at n≈14k. Moved to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 Regression collapses to ~the stratified dummy — the type boundaries are massively non-linear (collinear, mixed-unit magnitude, 225-level categoricals). This single decision is essentially the entire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step-0.05 simplex grid over (XGB,LGB,CAT) put LightGBM's optimal weight at 0.00. The v4.1 3-way ensemble actually scored BELOW its own best member; removing LGB and reweighting to 0.6/0.4 is what made the ensemble net-positive.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hydro-meteorological classes overlap in (continent, region, season, coordinate) space — ~1,800 mutual misclassifications. The features have no hydrology/meteorology to separate them. Earthquake is the one class with a clean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on an honest holdout (observed-target rows only). The headline 111×→2.7× for damage is mostly about not poisoning the model with fake zeros, plus conditioning on type — not about new feature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this calmly and confidently — finding and quantifying it is the strength. Most likely faculty probe. The relative experiment decisions used CV / honest holdout, so the engineering choices still stand; only the headline number is inflated.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answer to 'why not better.' Majority classes: bias-limited → need better features, not more data. Minorities: variance-limited → more data / merging / two-stage. Regression: signal-limited → exogenous features (exposure, GDP, population).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 is computed per-prediction (top-3) at inference; a formal per-class SHAP table isn't persisted. The gain importances shown are from the deployed v4.2 XGBoost.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Ordered by expected impact. P0 (fix the split) and P2/P1 (features for the signal-poor classes) are the only levers that move the real ceiling; the rest is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rigor and honesty — the differentiator for an academic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contamination answer ready — most likely probe; owning it is the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🌍  SafeEarth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A34A"/>
                </a:solidFill>
                <a:latin typeface="Calibri"/>
              </a:rPr>
              <a:t>Machine-Learning Deep Dive</a:t>
            </a:r>
          </a:p>
          <a:p>
            <a:pPr algn="ctr"/>
            <a:r>
              <a:rPr sz="1900" b="0">
                <a:solidFill>
                  <a:srgbClr val="CBD5E1"/>
                </a:solidFill>
                <a:latin typeface="Calibri"/>
              </a:rPr>
              <a:t>Every model, every metric — and a rigorous floor/ceiling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Mohamed Haitham  ·  University Presentation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EM-DAT (1900–2021)  ·  XGBoost + CatBoost ensemble  ·  per-type impact regressors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Two ML problems — 8-class disaster type, and 4 impact regressors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Every model trained, with baselines that anchor the floor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Per-model metrics — classification (macro-F1, per-class) and regression (log-MAE, R²)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16A34A"/>
                </a:solidFill>
                <a:latin typeface="Calibri"/>
              </a:rPr>
              <a:t>•  What actually moved the numbers (and what didn't)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DC2626"/>
                </a:solidFill>
                <a:latin typeface="Calibri"/>
              </a:rPr>
              <a:t>•  The contamination I found: the headline 0.705 is in-sample; honest ≈ 0.586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B3D2E"/>
                </a:solidFill>
                <a:latin typeface="Calibri"/>
              </a:rPr>
              <a:t>•  Floor &amp; ceiling — the bias/variance verdict per problem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Recommendations — highest-ceiling-first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Two ML Problems, One Feature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02336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Disaster type (8 classes)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Deaths · Injuries · Affected · Damage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XGBoost + CatBoost soft-vote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Per-type XGB / RandomForest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softmax / multiclass logloss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squared error on log1p(target)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Metric that counts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macro-F1 (21:1 imbalance)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log1p-MAE on observed rows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Why that metric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rare-disaster miss = costly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raw R² ≈ 0 — tail is unpredictable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Design rule:  </a:t>
            </a:r>
            <a:r>
              <a:rPr sz="1500">
                <a:solidFill>
                  <a:srgbClr val="334155"/>
                </a:solidFill>
                <a:latin typeface="Calibri"/>
              </a:rPr>
              <a:t>impact is right-skewed 100×–1,400× → median / log1p everywhere, never mean (CLAUDE.md).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3D2E"/>
                </a:solidFill>
                <a:latin typeface="Calibri"/>
              </a:rPr>
              <a:t>8 classes:  </a:t>
            </a:r>
            <a:r>
              <a:rPr sz="1500">
                <a:solidFill>
                  <a:srgbClr val="334155"/>
                </a:solidFill>
                <a:latin typeface="Calibri"/>
              </a:rPr>
              <a:t>Drought · Earthquake · Extreme temperature · Flood · Landslide · Storm · Volcanic activity · Wildfire.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Data, Splits &amp; the 21:1 Imbalance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6035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09728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Train 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Train %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Holdout 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Flood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5,551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38.3%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5,272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Storm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4,496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31.1%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4,005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Earthquake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1,544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10.7%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1,137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Landslide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776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713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Drought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770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685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Extreme temperature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603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584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Wildfire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452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Volcanic activity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222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137160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Train 14,476 · holdout 13,070 (8 modelled types)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•  Imbalance ≈ 21:1 (Flood : Volcanic)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CV = 5-fold StratifiedKFold, random_state=42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Encoders + freq-maps fit on the train fold only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Target coverage: deaths 70%, injuries 26%,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affected 56%, damage 36% — nulls ≠ zeros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Foreshadow:  </a:t>
            </a:r>
            <a:r>
              <a:rPr sz="1500">
                <a:solidFill>
                  <a:srgbClr val="334155"/>
                </a:solidFill>
                <a:latin typeface="Calibri"/>
              </a:rPr>
              <a:t>the test file is a 100% subset of train — quantified on Slide 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Models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Classification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5577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rejected — macro-F1 0.137 (≈ dummy)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competitive 0.700, no edge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final (primary)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best single learner — 0.60 weight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final (member)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diversity — 0.40 weight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dropped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optimal weight tuned to 0.00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Soft-vote ensemble (v4.2)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deployed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0.60·XGB + 0.40·CAT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Regression (per-type + drop-null)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0876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deaths, damage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XGBRegressor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injuries, affected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(light variant)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XGB for all 4 (23 MB)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rejected (worst / exploded)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SVR / KNN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never built → §recs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212080"/>
            <a:ext cx="110642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Why LightGBM went:  </a:t>
            </a:r>
            <a:r>
              <a:rPr sz="1500">
                <a:solidFill>
                  <a:srgbClr val="334155"/>
                </a:solidFill>
                <a:latin typeface="Calibri"/>
              </a:rPr>
              <a:t>weakest member (0.654) AND the macro-F1-optimal ensemble weight for it was exactly 0.00 → v4.2 dropped it (bundle 26 MB → 10 MB).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Baselines — the Floor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Classification dummies (holdout)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53949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most_frequent (Flood)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0.072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stratified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0.129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Regression — train-median predictor (log-MAE)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42900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0972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log-MAE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deaths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3.4×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injuries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1.54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4.7×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affected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2.36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10.6×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damage ('000$)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60,000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2.12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8.3×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6304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•  Macro-F1 floor ≈ 0.07–0.13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Honest [CV] macro-F1 0.586 sits +0.46 above</a:t>
            </a:r>
          </a:p>
          <a:p>
            <a:pPr lvl="1">
              <a:spcAft>
                <a:spcPts val="9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the stratified dummy — 4.5× its value.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Every deployed regressor beats its</a:t>
            </a:r>
          </a:p>
          <a:p>
            <a:pPr lvl="1">
              <a:spcAft>
                <a:spcPts val="9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median baseline (e.g. damage 2.66× vs 8.3×).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Judge regression lift vs THIS, not raw R².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CLASSIFICATION
</a:t>
            </a:r>
            <a:r>
              <a:rPr sz="2600" b="1">
                <a:solidFill>
                  <a:srgbClr val="FFFFFF"/>
                </a:solidFill>
                <a:latin typeface="Calibri"/>
              </a:rPr>
              <a:t>Model Family Is the Lever</a:t>
            </a:r>
          </a:p>
        </p:txBody>
      </p:sp>
      <p:pic>
        <p:nvPicPr>
          <p:cNvPr id="4" name="Picture 3" descr="01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234440"/>
            <a:ext cx="7315200" cy="39042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The point:  </a:t>
            </a:r>
            <a:r>
              <a:rPr sz="1500">
                <a:solidFill>
                  <a:srgbClr val="334155"/>
                </a:solidFill>
                <a:latin typeface="Calibri"/>
              </a:rPr>
              <a:t>swapping linear → trees buys ~+0.57 macro-F1. All three tree models cluster at 0.700–0.704; the choice among them is noise (≈ CV std).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CLASSIFICATION
</a:t>
            </a:r>
            <a:r>
              <a:rPr sz="2600" b="1">
                <a:solidFill>
                  <a:srgbClr val="FFFFFF"/>
                </a:solidFill>
                <a:latin typeface="Calibri"/>
              </a:rPr>
              <a:t>The Ensemble — and Why LightGBM Was Dropped</a:t>
            </a:r>
          </a:p>
        </p:txBody>
      </p:sp>
      <p:pic>
        <p:nvPicPr>
          <p:cNvPr id="4" name="Picture 3" descr="02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34440"/>
            <a:ext cx="7589520" cy="3506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Honest read:  </a:t>
            </a:r>
            <a:r>
              <a:rPr sz="1500">
                <a:solidFill>
                  <a:srgbClr val="334155"/>
                </a:solidFill>
                <a:latin typeface="Calibri"/>
              </a:rPr>
              <a:t>v4.2 (XGB+CAT) beats its best single member by +0.0113 — real, but ~2× the CV std. The ensemble is a modest lever, not a transformation.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Hyperparameter Tuning — and an Honest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Optuna TPE (seed 42), maximizing 3-fold CV macro-F1: XGB 40 trials · LGB 30 · CAT 20</a:t>
            </a:r>
          </a:p>
          <a:p>
            <a:pPr lvl="1">
              <a:spcAft>
                <a:spcPts val="13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–  Search space e.g. XGB: depth 4–10, lr 0.01–0.2 (log), reg_alpha 0–2, reg_lambda 0.5–5, subsample/colsample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Selected XGB: n=481, depth=8, lr=0.052, reg_alpha=1.85, reg_lambda=2.40, gamma=0.50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Selected CatBoost: 426 iters, depth 6, lr 0.169, l2_leaf_reg 9.71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Measured gain from tuning over a sensible default: +0.0018 macro-F1 (0.7020 → 0.7038)</a:t>
            </a:r>
          </a:p>
          <a:p>
            <a:pPr lvl="1">
              <a:spcAft>
                <a:spcPts val="13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–  → within fold noise (CV std ≈ 0.006–0.008). Tuning is NOT where the points came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Takeaway:  </a:t>
            </a:r>
            <a:r>
              <a:rPr sz="1500">
                <a:solidFill>
                  <a:srgbClr val="334155"/>
                </a:solidFill>
                <a:latin typeface="Calibri"/>
              </a:rPr>
              <a:t>model family bought ~0.57; Optuna bought ~0.002. Spend effort on features &amp; evaluation, not the 40th trial.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Per-Model Scoreboard —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94560"/>
                <a:gridCol w="1645920"/>
                <a:gridCol w="173736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 / config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Macro-F1 [resub]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Wtd-F1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Macro-F1 [CV]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XGBoost only (v4.1)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0.6939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LightGBM only (v4.1)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0.6540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CatBoost only (v4.1)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0.6817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Ensemble v4.1 (X·L·C)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0.6929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0.7519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0.7467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Ensemble v4.2 (X·C) — deployed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0.7052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0.7587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0.7467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0.5857 ±0.006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DC2626"/>
                </a:solidFill>
                <a:latin typeface="Calibri"/>
              </a:rPr>
              <a:t>•  [resub] = full test set, which is a 100% subset of train → a training-set fit.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[CV] = 5-fold StratifiedKFold on train → the honest generalization estimate.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•  The deployed model is 0.7052 in-sample but ~0.586 out-of-fold — a 0.12 gap (Slides 14–15).</a:t>
            </a:r>
          </a:p>
          <a:p>
            <a:pPr>
              <a:spcAft>
                <a:spcPts val="13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•  ROC-AUC / PR-AUC / log-loss were never computed — flagged in recommendations.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ERROR ANALYSIS
</a:t>
            </a:r>
            <a:r>
              <a:rPr sz="2600" b="1">
                <a:solidFill>
                  <a:srgbClr val="FFFFFF"/>
                </a:solidFill>
                <a:latin typeface="Calibri"/>
              </a:rPr>
              <a:t>Where the Classifier Fails</a:t>
            </a:r>
          </a:p>
        </p:txBody>
      </p:sp>
      <p:pic>
        <p:nvPicPr>
          <p:cNvPr id="4" name="Picture 3" descr="05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858000" cy="48771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480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3D2E"/>
                </a:solidFill>
                <a:latin typeface="Calibri"/>
              </a:rPr>
              <a:t>•  Earthquake near-perfect: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–  1,110 / 1,137 — the magnitude signal.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 Hydro-met cluster bleeds: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–  565 Flood→Storm, 518 Storm→Flood,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–  168 Landslide→Flood, 103 Landslide→Storm.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DC2626"/>
                </a:solidFill>
                <a:latin typeface="Calibri"/>
              </a:rPr>
              <a:t>•  Minority precision collapses: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–  Landslide P=0.43, Drought P=0.48 —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–  class weights trade precision for recall.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REGRESSION
</a:t>
            </a:r>
            <a:r>
              <a:rPr sz="2600" b="1">
                <a:solidFill>
                  <a:srgbClr val="FFFFFF"/>
                </a:solidFill>
                <a:latin typeface="Calibri"/>
              </a:rPr>
              <a:t>Per-Model Metrics — Regression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554480"/>
                <a:gridCol w="91440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best model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MAE (non-zero)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raw R²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log-MAE (factor)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deaths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XGB (300,d6)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368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0.0202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0.63 (1.9×)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injuries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XGB (300,d6)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1,830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0.0151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1.02 (2.8×)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affected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XGB (300,d6)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990,998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0.0158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1.46 (4.3×)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2E"/>
                          </a:solidFill>
                          <a:latin typeface="Calibri"/>
                        </a:rPr>
                        <a:t>damage ('000$)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XGB (300,d6)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747,942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0.0142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34155"/>
                          </a:solidFill>
                          <a:latin typeface="Calibri"/>
                        </a:rPr>
                        <a:t>0.98 (2.7×)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7_reg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71600"/>
            <a:ext cx="4572000" cy="228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212080"/>
            <a:ext cx="11064240" cy="77724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The honest read:  </a:t>
            </a:r>
            <a:r>
              <a:rPr sz="1500">
                <a:solidFill>
                  <a:srgbClr val="334155"/>
                </a:solidFill>
                <a:latin typeface="Calibri"/>
              </a:rPr>
              <a:t>raw R² ≈ 0.01–0.02 even IN-SAMPLE → the features cannot fit the heavy tail. log-MAE captures type-conditioned central tendency; magnitude itself is unpredictable 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REGRESSION
</a:t>
            </a:r>
            <a:r>
              <a:rPr sz="2600" b="1">
                <a:solidFill>
                  <a:srgbClr val="FFFFFF"/>
                </a:solidFill>
                <a:latin typeface="Calibri"/>
              </a:rPr>
              <a:t>The Regressor Fix — Per-Type + Drop-Null</a:t>
            </a:r>
          </a:p>
        </p:txBody>
      </p:sp>
      <p:pic>
        <p:nvPicPr>
          <p:cNvPr id="4" name="Picture 3" descr="06_reg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583680" cy="35926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3716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Old regressors were type-blind AND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trained on fake zeros (64% of damage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rows are NULL → filled 0 → model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learns ≈0).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Two independent wins: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add the disaster-TYPE axis +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DROP the fake zeros.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Caveat: this un-poisons the target;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it does NOT crack magnitude (R²≈0).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What Actually Moved the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743200"/>
                <a:gridCol w="33832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Model family: linear → trees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+0.565 macro-F1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benchmark sweep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Hand weights vs balanced inv-freq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+0.090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minority strategies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Centroid imputation (validated, NOT shipped)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+0.017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preprocessing exp.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Drop LightGBM + reweight (v4.2)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+0.011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weight tuning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Ensemble weight tuning (LGB→0)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+0.0014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weight tuning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Optuna over a sensible default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candidate sweep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Per-class threshold tuning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−0.0027 → DISCARDED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overfit val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Regression: per-type + drop-null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111× → 2.7× (damage)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combined exp.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The verdict:  </a:t>
            </a:r>
            <a:r>
              <a:rPr sz="1500">
                <a:solidFill>
                  <a:srgbClr val="334155"/>
                </a:solidFill>
                <a:latin typeface="Calibri"/>
              </a:rPr>
              <a:t>one lever (trees) bought ~0.57; everything after lives in the ±0.01–0.09 band, and several 'improvements' were noise or negative. Hand weights mostly rebalance precision/recall.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ECACA"/>
                </a:solidFill>
                <a:latin typeface="Calibri"/>
              </a:rPr>
              <a:t>PROBLEM I FOUND
</a:t>
            </a:r>
            <a:r>
              <a:rPr sz="2600" b="1">
                <a:solidFill>
                  <a:srgbClr val="FFFFFF"/>
                </a:solidFill>
                <a:latin typeface="Calibri"/>
              </a:rPr>
              <a:t>The Headline Metric Is Inflated</a:t>
            </a:r>
          </a:p>
        </p:txBody>
      </p:sp>
      <p:pic>
        <p:nvPicPr>
          <p:cNvPr id="4" name="Picture 3" descr="04_floor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400800" cy="3285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The 'holdout' 1970–2021 file is a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STRICT SUBSET of the 1900–2021 train file.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 Verified: 100.0% of the 13,070 test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rows share an EM-DAT Year-Seq-Country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key with a train row.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→ macro-F1 0.7052 is IN-SAMPLE.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Honest 5-fold CV ≈ 0.586.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It voids absolute numbers, not the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relative decisions (those used CV).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Floor &amp; Ceiling — the Bias/Variance Verdict</a:t>
            </a:r>
          </a:p>
        </p:txBody>
      </p:sp>
      <p:pic>
        <p:nvPicPr>
          <p:cNvPr id="4" name="Picture 3" descr="03_resub_vs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592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37160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•  Earthquake gap +0.012 → bias-limited,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already at its signal ceiling (0.96).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 Minorities gap +0.16–0.26 → variance-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limited: tiny support (Volcanic n=265),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F1 variance-dominated, memorized.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Regression: raw R²≈0 in-sample →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bias/signal-limited (features don't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–  determine magnitude).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Explainability — Feature Importance &amp; a Red Flag</a:t>
            </a:r>
          </a:p>
        </p:txBody>
      </p:sp>
      <p:pic>
        <p:nvPicPr>
          <p:cNvPr id="4" name="Picture 3" descr="08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675120" cy="39628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B3D2E"/>
                </a:solidFill>
                <a:latin typeface="Calibri"/>
              </a:rPr>
              <a:t>•  Two magnitude features = 45.7% of gain.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Red flag: has_magnitude is essentially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–  'is this an Earthquake/Storm' — one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–  binary carries 20% of decisions and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–  is why Earthquake hits F1 0.98.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–  (Not leakage — magnitude is known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–  pre-event.)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DC2626"/>
                </a:solidFill>
                <a:latin typeface="Calibri"/>
              </a:rPr>
              <a:t>•  day_offset = 0.0%: constant in training,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–  so the 30-day forecast varies only by season.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Recommendations — Highest Ceiling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 P0 · Fix the evaluation: de-duplicate by Year-Seq-Country, adopt a TEMPORAL split, re-measure. The prerequisite for trusting any gain.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P0 · Report ROC-AUC / PR-AUC / log-loss + learning curves to confirm the bias/variance verdicts empirically.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P1 · Variance-limited minorities: ship centroid imputation (+0.017, already validated, unshipped); two-stage common-vs-rare classifier; consider class merging.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P2 · Bias-limited hydro-met cluster: add external features (ERA5/CHIRPS precip, elevation, Köppen) — the only real lever (exp. +0.03–0.06).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P3 · Probability calibration (isotonic/temperature) — severity thresholds drive alerts but run on uncalibrated probabilities.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P4 · Regression: add exposure features (population, GDP, building codes) or reframe to ordinal risk bands; rebalance the EM-DAT blend now that regressors are stronger.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•  Skip SVM/SVR/KNN — given LogReg's collapse, they won't beat trees and scale badly.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•  Model family is the lever: linear → trees bought ~0.57 macro-F1; tuning/ensembling bought ~0.01.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DC2626"/>
                </a:solidFill>
                <a:latin typeface="Calibri"/>
              </a:rPr>
              <a:t>•  The honest number is 0.586, not 0.705 — I found and quantified a 100% train/test overlap.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Classification: majority classes bias-limited, minorities variance-limited. Regression: signal-limited (raw R²≈0).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The biggest regressor win was un-poisoning the target (drop fake zeros + per-type), not a better algorithm.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Negative results are results: SMOTE, balanced weights, threshold tuning, extra geo features — all tested and rejected with reasons.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Thank You  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A34A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Anticipated questions: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Is 0.705 real?  →  No — in-sample upper bound; test ⊂ train. Honest CV ≈ 0.586.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Why not oversample?  →  Tested; SMOTE −0.04 macro &amp; invalid on encoded categoricals.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Why trees over linear?  →  LogReg collapsed to 0.137; mixed-unit magnitude + 225-level categoricals + outliers break LR/SVM.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Biggest single win available?  →  Fix the split, then add magnitude/exposure features for the signal-poor classes.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Why is regression R² ≈ 0?  →  Impact needs exposure/GDP/population — absent from the feature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Full write-up: docs/ML_DEEP_DIVE.md   ·   Data: EM-DAT (1900–2021)   ·   safeearth.tech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